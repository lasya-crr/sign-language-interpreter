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</p:sldMasterIdLst>
  <p:notesMasterIdLst>
    <p:notesMasterId r:id="rId13"/>
  </p:notesMasterIdLst>
  <p:sldIdLst>
    <p:sldId id="256" r:id="rId3"/>
    <p:sldId id="257" r:id="rId4"/>
    <p:sldId id="272" r:id="rId5"/>
    <p:sldId id="273" r:id="rId6"/>
    <p:sldId id="274" r:id="rId7"/>
    <p:sldId id="282" r:id="rId8"/>
    <p:sldId id="279" r:id="rId9"/>
    <p:sldId id="280" r:id="rId10"/>
    <p:sldId id="275" r:id="rId11"/>
    <p:sldId id="277" r:id="rId12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4"/>
      <p:bold r:id="rId15"/>
      <p:italic r:id="rId16"/>
      <p:boldItalic r:id="rId17"/>
    </p:embeddedFont>
    <p:embeddedFont>
      <p:font typeface="Barlow ExtraLight" panose="00000300000000000000" pitchFamily="2" charset="0"/>
      <p:regular r:id="rId18"/>
      <p:bold r:id="rId19"/>
      <p:italic r:id="rId20"/>
      <p:boldItalic r:id="rId21"/>
    </p:embeddedFont>
    <p:embeddedFont>
      <p:font typeface="Barlow Light" panose="00000400000000000000" pitchFamily="2" charset="0"/>
      <p:regular r:id="rId22"/>
      <p:bold r:id="rId23"/>
      <p:italic r:id="rId24"/>
      <p:boldItalic r:id="rId25"/>
    </p:embeddedFont>
    <p:embeddedFont>
      <p:font typeface="Barlow Medium" panose="00000600000000000000" pitchFamily="2" charset="0"/>
      <p:regular r:id="rId26"/>
      <p:bold r:id="rId27"/>
      <p:italic r:id="rId28"/>
      <p:boldItalic r:id="rId29"/>
    </p:embeddedFont>
    <p:embeddedFont>
      <p:font typeface="Hepta Slab" panose="020B0604020202020204" charset="0"/>
      <p:regular r:id="rId30"/>
      <p:bold r:id="rId31"/>
    </p:embeddedFont>
    <p:embeddedFont>
      <p:font typeface="Hepta Slab Light" panose="020B0604020202020204" charset="0"/>
      <p:regular r:id="rId32"/>
      <p:bold r:id="rId33"/>
    </p:embeddedFont>
    <p:embeddedFont>
      <p:font typeface="Hepta Slab Medium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4218b68ef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34218b68ef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09B290CF-F689-3822-1456-7406F13E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36FD156E-B575-4717-10F0-C7A1A0C66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F3844576-CD24-5DC7-6942-93345123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443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389A4EDE-8F77-A20F-3326-27DF8796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1C49D11A-BEDF-A27E-D4B0-E71B2E413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96D87C6C-27F7-29B0-FDA3-AE65EA848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288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CC59A279-855A-1E78-D722-F41EB341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AE0E5995-C12F-D516-EFB1-1C4605FC9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D0B6A4F0-285E-B359-4D33-1B03E95D5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87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2EC7BCCC-2B9C-D945-444C-8063D014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E4FA9554-88BF-6BA6-4C46-9C550C452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7CB5BFB8-912C-7335-C6B0-8DA26FC34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280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A8753665-1E28-FD1B-51F0-4C3CB6B7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7B9A9E0B-B271-B5FD-4AAA-C768C05DF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9E16FD8A-C9C0-B15B-17C1-D1491D864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016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06C7B800-B5F6-6F36-2E54-A27474B5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FA3943BC-81F0-C4BD-7CF6-97B9B8416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CAB2F029-C7D1-3CD7-9781-010AE9A0F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563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458A1D41-5664-EAD6-86BC-D84EB025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B20A1312-7F47-AA50-D5B8-E2EC99A38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A8709697-0ECF-C6DC-CFB0-41EE02180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08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9" name="Google Shape;289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2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52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2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5" name="Google Shape;305;p52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6" name="Google Shape;306;p52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7" name="Google Shape;307;p52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322" name="Google Shape;32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9" name="Google Shape;329;p55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0" name="Google Shape;330;p55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1" name="Google Shape;331;p55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4" name="Google Shape;334;p55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5" name="Google Shape;335;p55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7" name="Google Shape;337;p55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8" name="Google Shape;338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6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4" name="Google Shape;344;p56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5" name="Google Shape;345;p56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6" name="Google Shape;346;p56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56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50" name="Google Shape;350;p56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4" name="Google Shape;354;p56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7" name="Google Shape;357;p56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8" name="Google Shape;35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1" name="Google Shape;361;p57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5" name="Google Shape;365;p58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66" name="Google Shape;366;p5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512850" y="288328"/>
            <a:ext cx="7939774" cy="2255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IN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Sign Language Interpreter</a:t>
            </a:r>
            <a:br>
              <a:rPr lang="en-IN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</a:br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(leveraging computer vision)</a:t>
            </a:r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</a:t>
            </a:r>
            <a:endParaRPr sz="2800" b="1" dirty="0">
              <a:solidFill>
                <a:schemeClr val="accent3">
                  <a:lumMod val="20000"/>
                  <a:lumOff val="80000"/>
                </a:schemeClr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sp>
        <p:nvSpPr>
          <p:cNvPr id="372" name="Google Shape;372;p59"/>
          <p:cNvSpPr txBox="1">
            <a:spLocks noGrp="1"/>
          </p:cNvSpPr>
          <p:nvPr>
            <p:ph type="subTitle" idx="2"/>
          </p:nvPr>
        </p:nvSpPr>
        <p:spPr>
          <a:xfrm>
            <a:off x="365493" y="2385243"/>
            <a:ext cx="8604194" cy="24699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Clr>
                <a:schemeClr val="lt1"/>
              </a:buClr>
              <a:buSzPts val="1100"/>
            </a:pPr>
            <a:r>
              <a:rPr lang="en" sz="1500" b="1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Team</a:t>
            </a: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: </a:t>
            </a:r>
            <a:r>
              <a:rPr lang="en" sz="1500" b="1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Tech Transofmers			          </a:t>
            </a:r>
            <a:r>
              <a:rPr lang="en-US" sz="1200" b="1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Date of Presentation  -28</a:t>
            </a:r>
            <a:r>
              <a:rPr lang="en-US" sz="1200" baseline="300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th</a:t>
            </a:r>
            <a:r>
              <a:rPr lang="en-US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April</a:t>
            </a:r>
            <a:r>
              <a:rPr lang="en-US" sz="16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2025</a:t>
            </a:r>
          </a:p>
          <a:p>
            <a:pPr mar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      Lasya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Facilitation, backend &amp; Integration</a:t>
            </a:r>
            <a:r>
              <a:rPr lang="en" sz="12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	</a:t>
            </a:r>
            <a:endParaRPr lang="en" sz="1500" dirty="0">
              <a:solidFill>
                <a:srgbClr val="FFFFFF"/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      Varshini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Design, Data acquisition and backend</a:t>
            </a: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Mounika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Testing</a:t>
            </a: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Darsani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Debugging</a:t>
            </a:r>
            <a:endParaRPr lang="en" sz="1500" dirty="0">
              <a:solidFill>
                <a:srgbClr val="FFFFFF"/>
              </a:solidFill>
              <a:latin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Saanvi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Design			             </a:t>
            </a:r>
            <a:r>
              <a:rPr lang="en" sz="1200" b="1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Event    -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Second Evaluation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Shritha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Frontend </a:t>
            </a: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	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Harini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Bug fix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lang="en" sz="1200" dirty="0">
              <a:solidFill>
                <a:srgbClr val="FFFFFF"/>
              </a:solidFill>
              <a:latin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Institution : CR RAO AIMSCS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11AE8-20C1-1CF3-2667-0CEB3CB60481}"/>
              </a:ext>
            </a:extLst>
          </p:cNvPr>
          <p:cNvSpPr txBox="1"/>
          <p:nvPr/>
        </p:nvSpPr>
        <p:spPr>
          <a:xfrm>
            <a:off x="552410" y="96644"/>
            <a:ext cx="8398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rPr>
              <a:t>PROBLEM  STATEMENT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8" name="Picture 4" descr="Persons with Deafblindness and Inequality – WFDB">
            <a:extLst>
              <a:ext uri="{FF2B5EF4-FFF2-40B4-BE49-F238E27FC236}">
                <a16:creationId xmlns:a16="http://schemas.microsoft.com/office/drawing/2014/main" id="{BAACEC6D-67E8-76C3-A7B3-2646A271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23" y="2471849"/>
            <a:ext cx="3159904" cy="123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79 Hearing Loss Statistics: How Many Deaf People In The U.S.?">
            <a:extLst>
              <a:ext uri="{FF2B5EF4-FFF2-40B4-BE49-F238E27FC236}">
                <a16:creationId xmlns:a16="http://schemas.microsoft.com/office/drawing/2014/main" id="{48296FB0-9583-171B-EB7C-8AC8D5AA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173" y="1984453"/>
            <a:ext cx="2342149" cy="250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ED589-FE36-7EEF-E090-FA9C630A59EC}"/>
              </a:ext>
            </a:extLst>
          </p:cNvPr>
          <p:cNvSpPr txBox="1"/>
          <p:nvPr/>
        </p:nvSpPr>
        <p:spPr>
          <a:xfrm>
            <a:off x="1059366" y="654852"/>
            <a:ext cx="80846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8" indent="-285750">
              <a:buClr>
                <a:schemeClr val="accent3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People with hearing impairment might face challenges to interpret sign language. Visual impairment makes the problem even more worse.</a:t>
            </a:r>
          </a:p>
          <a:p>
            <a:pPr marL="285750" lvl="8" indent="-285750">
              <a:buClr>
                <a:schemeClr val="accent3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Human interpreter or text based communications may not be adequate enough in terms of  accessibility, efficiency or affordability.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13C0130B-1A6F-962B-807E-0614DBBA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6E296DAE-4816-5698-BAE1-981C0A733D56}"/>
              </a:ext>
            </a:extLst>
          </p:cNvPr>
          <p:cNvSpPr txBox="1"/>
          <p:nvPr/>
        </p:nvSpPr>
        <p:spPr>
          <a:xfrm>
            <a:off x="1138757" y="1159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"/>
                <a:cs typeface="Hepta Slab"/>
                <a:sym typeface="Hepta Slab"/>
              </a:rPr>
              <a:t>Proposed Solution</a:t>
            </a: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  <a:ea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8160907C-46DA-038D-9BED-542A4247AD91}"/>
              </a:ext>
            </a:extLst>
          </p:cNvPr>
          <p:cNvSpPr txBox="1"/>
          <p:nvPr/>
        </p:nvSpPr>
        <p:spPr>
          <a:xfrm>
            <a:off x="1353015" y="699813"/>
            <a:ext cx="7404410" cy="92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To facilitate hard-of-hearing individuals with an ML driven system that translates sign language gestures into text and speech.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Functionalities to be implemented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tx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           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tx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  <a:r>
              <a:rPr lang="en" sz="1500" dirty="0">
                <a:solidFill>
                  <a:schemeClr val="tx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tx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tx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2050" name="Picture 2" descr="GitHub - Devansh-47/Sign-Language-To-Text-and-Speech-Conversion: This is a  python application which converts american sign language into text and  speech which helps Dumb/Deaf people to start conversation with normal  people who dont understand this language">
            <a:extLst>
              <a:ext uri="{FF2B5EF4-FFF2-40B4-BE49-F238E27FC236}">
                <a16:creationId xmlns:a16="http://schemas.microsoft.com/office/drawing/2014/main" id="{5ED605F3-B4D4-3758-343F-2260E6D727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"/>
          <a:stretch/>
        </p:blipFill>
        <p:spPr bwMode="auto">
          <a:xfrm>
            <a:off x="1751406" y="2081561"/>
            <a:ext cx="5117745" cy="294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52BE6A-68D4-EB06-A836-3CEE328F4284}"/>
              </a:ext>
            </a:extLst>
          </p:cNvPr>
          <p:cNvSpPr txBox="1"/>
          <p:nvPr/>
        </p:nvSpPr>
        <p:spPr>
          <a:xfrm>
            <a:off x="2040672" y="1473236"/>
            <a:ext cx="638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Convert recognized gestures into text and display.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Use text to speech API’s to fetch audio output.</a:t>
            </a:r>
          </a:p>
        </p:txBody>
      </p:sp>
    </p:spTree>
    <p:extLst>
      <p:ext uri="{BB962C8B-B14F-4D97-AF65-F5344CB8AC3E}">
        <p14:creationId xmlns:p14="http://schemas.microsoft.com/office/powerpoint/2010/main" val="120158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EBEC9912-3B7C-079E-82A8-5F36D7CF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CBB10BF0-6C76-BAF2-4F5D-7E885BB7A300}"/>
              </a:ext>
            </a:extLst>
          </p:cNvPr>
          <p:cNvSpPr txBox="1"/>
          <p:nvPr/>
        </p:nvSpPr>
        <p:spPr>
          <a:xfrm>
            <a:off x="1056981" y="3455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"/>
                <a:sym typeface="Hepta Slab"/>
              </a:rPr>
              <a:t>Opportunities &amp; Innovation</a:t>
            </a: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  <a:ea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722B3AD0-DFAB-3071-DD19-EC1A9A9FB4B0}"/>
              </a:ext>
            </a:extLst>
          </p:cNvPr>
          <p:cNvSpPr txBox="1"/>
          <p:nvPr/>
        </p:nvSpPr>
        <p:spPr>
          <a:xfrm>
            <a:off x="1853849" y="802888"/>
            <a:ext cx="6130423" cy="392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Benefits to Society: Supports both visually and hearing impaired.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Exploit computer vision and ML techniques to make the job easy.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Supports multiple devices and platforms.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Train the model extensively for improved accuracy.	</a:t>
            </a: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           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CDDC5-0C1C-2145-481B-161098D8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18" y="2226159"/>
            <a:ext cx="3862782" cy="2571750"/>
          </a:xfrm>
          <a:prstGeom prst="rect">
            <a:avLst/>
          </a:prstGeom>
        </p:spPr>
      </p:pic>
      <p:pic>
        <p:nvPicPr>
          <p:cNvPr id="3074" name="Picture 2" descr="This hand-tracking algorithm could lead to sign language recognition |  TechCrunch">
            <a:extLst>
              <a:ext uri="{FF2B5EF4-FFF2-40B4-BE49-F238E27FC236}">
                <a16:creationId xmlns:a16="http://schemas.microsoft.com/office/drawing/2014/main" id="{D23EC63D-B700-4BE1-E527-FFC2ACE0F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210" y="2226159"/>
            <a:ext cx="410364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2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89BE0EC8-DCD8-09AC-DE1F-E5E5074F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5DE873FC-DAAE-0285-8765-11FF62C99037}"/>
              </a:ext>
            </a:extLst>
          </p:cNvPr>
          <p:cNvSpPr txBox="1"/>
          <p:nvPr/>
        </p:nvSpPr>
        <p:spPr>
          <a:xfrm>
            <a:off x="468714" y="17711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Features of the solution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9FA18-E93A-484C-16D1-6F2BE956F427}"/>
              </a:ext>
            </a:extLst>
          </p:cNvPr>
          <p:cNvSpPr txBox="1"/>
          <p:nvPr/>
        </p:nvSpPr>
        <p:spPr>
          <a:xfrm>
            <a:off x="591019" y="946285"/>
            <a:ext cx="717022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Key Functionalities: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1. SLI  has a provision to prompt for language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 User can choose language of their choice for SL to text conversion.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2. SLI preserves co-ordinates of acquired images and develops a model to 	distinguish among various gestures.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	3. Trains the Model in a rigorous way to attain utmost accuracy 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	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Usability &amp; Benefits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1. Cost effective and User friendly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	2. Can act as a bridge between the impaired and the rest of the world.	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	3. Once the application is live, it can be extended to multiple platforms.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dk1"/>
              </a:solidFill>
              <a:latin typeface="Hepta Slab Light"/>
              <a:ea typeface="Hepta Slab"/>
              <a:cs typeface="Hepta Slab Light"/>
              <a:sym typeface="Hepta Slab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63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422F-89EE-3556-961C-642BF809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cs typeface="Hepta Slab Light"/>
                <a:sym typeface="Hepta Slab Light"/>
              </a:rPr>
              <a:t>Current Status of the Work</a:t>
            </a:r>
            <a:b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4000-CF07-9651-4686-6F0234BEB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What’s been done so far?: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Proof of concept is implemented to recognize few gestures.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Front-end is developed with minimal requirements.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30B7F-8AB6-7EF2-2E73-16C41B97F6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260195"/>
            <a:ext cx="3999900" cy="4308680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Glimpses of the work so far: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1942D-80B9-65F5-A745-1A04E89A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693" y="798497"/>
            <a:ext cx="2076372" cy="1581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3595B7-F14F-B82C-52EB-C07D7019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485" y="757798"/>
            <a:ext cx="1590532" cy="1609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91D0A-8B17-8306-EF31-AB30EF1D9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45" y="2716982"/>
            <a:ext cx="1484509" cy="1915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FD2EC-D693-F53D-3E84-3C63D2269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372" y="2726832"/>
            <a:ext cx="1457318" cy="1883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C7784-F21A-2D78-0427-6AB0A93F7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289" y="2731853"/>
            <a:ext cx="1466405" cy="188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9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07601572-6E5E-C3F1-54BE-9B4C1199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F03F57D4-8634-98D1-80CA-E5DBC228CBD2}"/>
              </a:ext>
            </a:extLst>
          </p:cNvPr>
          <p:cNvSpPr txBox="1"/>
          <p:nvPr/>
        </p:nvSpPr>
        <p:spPr>
          <a:xfrm>
            <a:off x="483585" y="259263"/>
            <a:ext cx="2122082" cy="5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Flow diagram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76B813-FD0C-EAB5-C50E-18B31D4F9079}"/>
              </a:ext>
            </a:extLst>
          </p:cNvPr>
          <p:cNvSpPr/>
          <p:nvPr/>
        </p:nvSpPr>
        <p:spPr>
          <a:xfrm>
            <a:off x="2780371" y="415876"/>
            <a:ext cx="2081558" cy="123318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Flask 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27EC2-7A92-2B67-2D08-DC31954D92EF}"/>
              </a:ext>
            </a:extLst>
          </p:cNvPr>
          <p:cNvSpPr/>
          <p:nvPr/>
        </p:nvSpPr>
        <p:spPr>
          <a:xfrm>
            <a:off x="6382219" y="2806063"/>
            <a:ext cx="2680005" cy="1813937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</a:p>
          <a:p>
            <a:pPr algn="ctr"/>
            <a:endParaRPr lang="en-IN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endParaRPr lang="en-IN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AD7F1F3-159D-9810-9AF6-F2C44C9F38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6217" y="-355201"/>
            <a:ext cx="2431397" cy="3973551"/>
          </a:xfrm>
          <a:prstGeom prst="bentConnector3">
            <a:avLst>
              <a:gd name="adj1" fmla="val -94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BF114C5-6DF6-79FD-0D76-EAC35B05A855}"/>
              </a:ext>
            </a:extLst>
          </p:cNvPr>
          <p:cNvCxnSpPr>
            <a:cxnSpLocks/>
            <a:stCxn id="3" idx="1"/>
            <a:endCxn id="2" idx="6"/>
          </p:cNvCxnSpPr>
          <p:nvPr/>
        </p:nvCxnSpPr>
        <p:spPr>
          <a:xfrm rot="10800000">
            <a:off x="4861929" y="1032468"/>
            <a:ext cx="1520290" cy="26805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30159-A286-652F-F230-4F5600384978}"/>
              </a:ext>
            </a:extLst>
          </p:cNvPr>
          <p:cNvSpPr/>
          <p:nvPr/>
        </p:nvSpPr>
        <p:spPr>
          <a:xfrm>
            <a:off x="159829" y="1837489"/>
            <a:ext cx="5032918" cy="304674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SignLanguage</a:t>
            </a:r>
            <a:r>
              <a:rPr lang="en-IN" b="1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interpreter(back end)</a:t>
            </a: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43FE9FB-7001-1153-E28F-40B9BC0C7433}"/>
              </a:ext>
            </a:extLst>
          </p:cNvPr>
          <p:cNvCxnSpPr>
            <a:cxnSpLocks/>
            <a:stCxn id="2" idx="4"/>
            <a:endCxn id="11" idx="0"/>
          </p:cNvCxnSpPr>
          <p:nvPr/>
        </p:nvCxnSpPr>
        <p:spPr>
          <a:xfrm rot="5400000">
            <a:off x="3154504" y="1170842"/>
            <a:ext cx="188431" cy="11448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D060B54-7B50-E61C-B77C-7188DA07042E}"/>
              </a:ext>
            </a:extLst>
          </p:cNvPr>
          <p:cNvSpPr/>
          <p:nvPr/>
        </p:nvSpPr>
        <p:spPr>
          <a:xfrm>
            <a:off x="1181729" y="2478961"/>
            <a:ext cx="3044277" cy="32710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Sets up capture device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54C56-EE57-DA3F-A7C3-261ECC516D3A}"/>
              </a:ext>
            </a:extLst>
          </p:cNvPr>
          <p:cNvSpPr/>
          <p:nvPr/>
        </p:nvSpPr>
        <p:spPr>
          <a:xfrm>
            <a:off x="265780" y="2969608"/>
            <a:ext cx="4765276" cy="9891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Initiates </a:t>
            </a:r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keypoint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classifier – Module responsible for hand gesture points acquisition and ML model creation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Initiates  points history classifier – Module responsible for model training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BEDC2-7C2C-BC48-40B0-09745791DDB0}"/>
              </a:ext>
            </a:extLst>
          </p:cNvPr>
          <p:cNvSpPr/>
          <p:nvPr/>
        </p:nvSpPr>
        <p:spPr>
          <a:xfrm>
            <a:off x="468714" y="4111034"/>
            <a:ext cx="4504730" cy="4535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Runs the application in a relentless mode to identify the gestures on the fly.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019A16-7510-75CE-A45D-C4B2AF8C2883}"/>
              </a:ext>
            </a:extLst>
          </p:cNvPr>
          <p:cNvSpPr/>
          <p:nvPr/>
        </p:nvSpPr>
        <p:spPr>
          <a:xfrm>
            <a:off x="6527201" y="3425342"/>
            <a:ext cx="2430960" cy="4311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Acquire Language option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567340-8645-D1F1-651E-A5F0F8D16381}"/>
              </a:ext>
            </a:extLst>
          </p:cNvPr>
          <p:cNvSpPr/>
          <p:nvPr/>
        </p:nvSpPr>
        <p:spPr>
          <a:xfrm>
            <a:off x="7256432" y="4111034"/>
            <a:ext cx="1173199" cy="39862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Click Start</a:t>
            </a:r>
          </a:p>
        </p:txBody>
      </p:sp>
    </p:spTree>
    <p:extLst>
      <p:ext uri="{BB962C8B-B14F-4D97-AF65-F5344CB8AC3E}">
        <p14:creationId xmlns:p14="http://schemas.microsoft.com/office/powerpoint/2010/main" val="370485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BC28BE10-F7E2-740F-760B-24604458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EA320BD6-BC05-A08E-676B-D03720059016}"/>
              </a:ext>
            </a:extLst>
          </p:cNvPr>
          <p:cNvSpPr txBox="1"/>
          <p:nvPr/>
        </p:nvSpPr>
        <p:spPr>
          <a:xfrm>
            <a:off x="468714" y="17711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Tech stack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B8F9F-6EAC-F593-A08E-E8CCEE8B125E}"/>
              </a:ext>
            </a:extLst>
          </p:cNvPr>
          <p:cNvSpPr txBox="1"/>
          <p:nvPr/>
        </p:nvSpPr>
        <p:spPr>
          <a:xfrm>
            <a:off x="2286000" y="664000"/>
            <a:ext cx="45720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Programming languages: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Front end: HTML, CSS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Back end : Python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	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Framework : Flask 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sz="1600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Packages : 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	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TensorFlow – ML model creation and training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            OpenCV – Capture images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  <a:r>
              <a:rPr lang="en-US" sz="1200" dirty="0" err="1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Mediapipe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– process video/image files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            </a:t>
            </a:r>
            <a:r>
              <a:rPr lang="en-US" sz="1200" dirty="0" err="1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Numpy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– Numerical computing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sz="1200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304800" lvl="2" indent="-1714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Tools:      </a:t>
            </a:r>
            <a:r>
              <a:rPr lang="en-US" dirty="0" err="1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Pycharm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Jupyter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 notebook(Anaconda)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</a:t>
            </a:r>
            <a:r>
              <a:rPr lang="en-US" sz="14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</a:t>
            </a:r>
            <a:endParaRPr lang="en-US" sz="1200" dirty="0">
              <a:solidFill>
                <a:schemeClr val="dk1"/>
              </a:solidFill>
              <a:latin typeface="+mn-lt"/>
              <a:cs typeface="Hepta Slab Light"/>
              <a:sym typeface="Hepta Slab Light"/>
            </a:endParaRPr>
          </a:p>
        </p:txBody>
      </p:sp>
    </p:spTree>
    <p:extLst>
      <p:ext uri="{BB962C8B-B14F-4D97-AF65-F5344CB8AC3E}">
        <p14:creationId xmlns:p14="http://schemas.microsoft.com/office/powerpoint/2010/main" val="159296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1B14FB49-89B2-ADCA-03B9-811842D8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A8A86C10-83A0-B78A-C637-049C460672CC}"/>
              </a:ext>
            </a:extLst>
          </p:cNvPr>
          <p:cNvSpPr txBox="1"/>
          <p:nvPr/>
        </p:nvSpPr>
        <p:spPr>
          <a:xfrm>
            <a:off x="1056981" y="3455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Development Journey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52C60-BD10-FF77-CFCB-5575FA3210EA}"/>
              </a:ext>
            </a:extLst>
          </p:cNvPr>
          <p:cNvSpPr txBox="1"/>
          <p:nvPr/>
        </p:nvSpPr>
        <p:spPr>
          <a:xfrm>
            <a:off x="966439" y="959005"/>
            <a:ext cx="589156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Milestones:</a:t>
            </a:r>
          </a:p>
          <a:p>
            <a:pPr marL="133350" lvl="1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Design – Tremendous progress on identifying the requisite technologies and algorithms to be leveraged.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Considerable progress on front-end 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Flask application is completely functional.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Backend application - Sign language Interpreter module works for few of the gestures.</a:t>
            </a:r>
          </a:p>
        </p:txBody>
      </p:sp>
      <p:sp>
        <p:nvSpPr>
          <p:cNvPr id="4" name="Google Shape;383;p60">
            <a:extLst>
              <a:ext uri="{FF2B5EF4-FFF2-40B4-BE49-F238E27FC236}">
                <a16:creationId xmlns:a16="http://schemas.microsoft.com/office/drawing/2014/main" id="{9C31D406-628F-DDBF-C6C0-D0F9655B0822}"/>
              </a:ext>
            </a:extLst>
          </p:cNvPr>
          <p:cNvSpPr txBox="1"/>
          <p:nvPr/>
        </p:nvSpPr>
        <p:spPr>
          <a:xfrm>
            <a:off x="1070212" y="3493279"/>
            <a:ext cx="7151953" cy="1175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Improvise the front-end part. Leverage advanced frontend frameworks.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Expand the functionality to cover regional audio output as well.</a:t>
            </a:r>
          </a:p>
          <a:p>
            <a:pPr marL="419100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Need to do some research on API’s that can convert text to regional languages.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" name="Google Shape;382;p60">
            <a:extLst>
              <a:ext uri="{FF2B5EF4-FFF2-40B4-BE49-F238E27FC236}">
                <a16:creationId xmlns:a16="http://schemas.microsoft.com/office/drawing/2014/main" id="{DBE53832-FD6F-8320-8716-B8A12742DD1E}"/>
              </a:ext>
            </a:extLst>
          </p:cNvPr>
          <p:cNvSpPr txBox="1"/>
          <p:nvPr/>
        </p:nvSpPr>
        <p:spPr>
          <a:xfrm>
            <a:off x="982636" y="2962398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Hepta Slab"/>
                <a:ea typeface="Hepta Slab"/>
                <a:cs typeface="Hepta Slab"/>
                <a:sym typeface="Hepta Slab"/>
              </a:rPr>
              <a:t>Next Steps</a:t>
            </a:r>
            <a:endParaRPr sz="2500" dirty="0">
              <a:solidFill>
                <a:schemeClr val="accent3">
                  <a:lumMod val="40000"/>
                  <a:lumOff val="60000"/>
                </a:schemeClr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  <p:extLst>
      <p:ext uri="{BB962C8B-B14F-4D97-AF65-F5344CB8AC3E}">
        <p14:creationId xmlns:p14="http://schemas.microsoft.com/office/powerpoint/2010/main" val="149777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B13F46FD-67BE-4354-B771-8BA0BF4B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A42DF4F3-EB2F-FCEB-B4D2-3F4C00967668}"/>
              </a:ext>
            </a:extLst>
          </p:cNvPr>
          <p:cNvSpPr txBox="1"/>
          <p:nvPr/>
        </p:nvSpPr>
        <p:spPr>
          <a:xfrm>
            <a:off x="1694681" y="928509"/>
            <a:ext cx="5436300" cy="3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7170" name="Picture 2" descr="Sign Language | What is Sign Language? | Fable">
            <a:extLst>
              <a:ext uri="{FF2B5EF4-FFF2-40B4-BE49-F238E27FC236}">
                <a16:creationId xmlns:a16="http://schemas.microsoft.com/office/drawing/2014/main" id="{D496B0A4-4E03-610F-9626-C4BB2658C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F9B68E-5836-21E8-7422-A51EAB0C43BE}"/>
              </a:ext>
            </a:extLst>
          </p:cNvPr>
          <p:cNvSpPr/>
          <p:nvPr/>
        </p:nvSpPr>
        <p:spPr>
          <a:xfrm>
            <a:off x="1805240" y="1761892"/>
            <a:ext cx="571068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7200" b="1" dirty="0">
                <a:ln w="12700">
                  <a:solidFill>
                    <a:srgbClr val="FFFF00"/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609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7168</TotalTime>
  <Words>599</Words>
  <Application>Microsoft Office PowerPoint</Application>
  <PresentationFormat>On-screen Show (16:9)</PresentationFormat>
  <Paragraphs>105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Barlow Light</vt:lpstr>
      <vt:lpstr>Barlow ExtraLight</vt:lpstr>
      <vt:lpstr>Hepta Slab Light</vt:lpstr>
      <vt:lpstr>Hepta Slab</vt:lpstr>
      <vt:lpstr>Hepta Slab Medium</vt:lpstr>
      <vt:lpstr>Barlow Medium</vt:lpstr>
      <vt:lpstr>Wingdings</vt:lpstr>
      <vt:lpstr>Arial</vt:lpstr>
      <vt:lpstr>Barlow</vt:lpstr>
      <vt:lpstr>Simple Light</vt:lpstr>
      <vt:lpstr>Strategy Plan</vt:lpstr>
      <vt:lpstr>Sign Language Interpreter (leveraging computer vision) </vt:lpstr>
      <vt:lpstr>PowerPoint Presentation</vt:lpstr>
      <vt:lpstr>PowerPoint Presentation</vt:lpstr>
      <vt:lpstr>PowerPoint Presentation</vt:lpstr>
      <vt:lpstr>PowerPoint Presentation</vt:lpstr>
      <vt:lpstr>Current Status of the Work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raviraj n</cp:lastModifiedBy>
  <cp:revision>60</cp:revision>
  <dcterms:modified xsi:type="dcterms:W3CDTF">2025-04-28T14:12:07Z</dcterms:modified>
</cp:coreProperties>
</file>