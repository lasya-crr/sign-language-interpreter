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</p:sldMasterIdLst>
  <p:notesMasterIdLst>
    <p:notesMasterId r:id="rId13"/>
  </p:notesMasterIdLst>
  <p:sldIdLst>
    <p:sldId id="256" r:id="rId3"/>
    <p:sldId id="257" r:id="rId4"/>
    <p:sldId id="272" r:id="rId5"/>
    <p:sldId id="273" r:id="rId6"/>
    <p:sldId id="274" r:id="rId7"/>
    <p:sldId id="282" r:id="rId8"/>
    <p:sldId id="279" r:id="rId9"/>
    <p:sldId id="280" r:id="rId10"/>
    <p:sldId id="275" r:id="rId11"/>
    <p:sldId id="277" r:id="rId12"/>
  </p:sldIdLst>
  <p:sldSz cx="9144000" cy="5143500" type="screen16x9"/>
  <p:notesSz cx="6858000" cy="9144000"/>
  <p:embeddedFontLst>
    <p:embeddedFont>
      <p:font typeface="Barlow" panose="00000500000000000000" pitchFamily="2" charset="0"/>
      <p:regular r:id="rId14"/>
      <p:bold r:id="rId15"/>
      <p:italic r:id="rId16"/>
      <p:boldItalic r:id="rId17"/>
    </p:embeddedFont>
    <p:embeddedFont>
      <p:font typeface="Barlow ExtraLight" panose="00000300000000000000" pitchFamily="2" charset="0"/>
      <p:regular r:id="rId18"/>
      <p:bold r:id="rId19"/>
      <p:italic r:id="rId20"/>
      <p:boldItalic r:id="rId21"/>
    </p:embeddedFont>
    <p:embeddedFont>
      <p:font typeface="Barlow Light" panose="00000400000000000000" pitchFamily="2" charset="0"/>
      <p:regular r:id="rId22"/>
      <p:bold r:id="rId23"/>
      <p:italic r:id="rId24"/>
      <p:boldItalic r:id="rId25"/>
    </p:embeddedFont>
    <p:embeddedFont>
      <p:font typeface="Barlow Medium" panose="00000600000000000000" pitchFamily="2" charset="0"/>
      <p:regular r:id="rId26"/>
      <p:bold r:id="rId27"/>
      <p:italic r:id="rId28"/>
      <p:boldItalic r:id="rId29"/>
    </p:embeddedFont>
    <p:embeddedFont>
      <p:font typeface="Hepta Slab" panose="020B0604020202020204" charset="0"/>
      <p:regular r:id="rId30"/>
      <p:bold r:id="rId31"/>
    </p:embeddedFont>
    <p:embeddedFont>
      <p:font typeface="Hepta Slab Light" panose="020B0604020202020204" charset="0"/>
      <p:regular r:id="rId32"/>
      <p:bold r:id="rId33"/>
    </p:embeddedFont>
    <p:embeddedFont>
      <p:font typeface="Hepta Slab Medium" panose="020B0604020202020204" charset="0"/>
      <p:regular r:id="rId34"/>
      <p:bold r:id="rId3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9" Type="http://schemas.openxmlformats.org/officeDocument/2006/relationships/tableStyles" Target="tableStyles.xml"/><Relationship Id="rId21" Type="http://schemas.openxmlformats.org/officeDocument/2006/relationships/font" Target="fonts/font8.fntdata"/><Relationship Id="rId34" Type="http://schemas.openxmlformats.org/officeDocument/2006/relationships/font" Target="fonts/font2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font" Target="fonts/font22.fntdata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34218b68ef_0_3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34218b68ef_0_3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09B290CF-F689-3822-1456-7406F13E6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36FD156E-B575-4717-10F0-C7A1A0C668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F3844576-CD24-5DC7-6942-933451232C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64439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389A4EDE-8F77-A20F-3326-27DF879660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1C49D11A-BEDF-A27E-D4B0-E71B2E4132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96D87C6C-27F7-29B0-FDA3-AE65EA8486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502886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CC59A279-855A-1E78-D722-F41EB341C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AE0E5995-C12F-D516-EFB1-1C4605FC98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D0B6A4F0-285E-B359-4D33-1B03E95D55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887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2EC7BCCC-2B9C-D945-444C-8063D014FF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E4FA9554-88BF-6BA6-4C46-9C550C45272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7CB5BFB8-912C-7335-C6B0-8DA26FC34A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462803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A8753665-1E28-FD1B-51F0-4C3CB6B7AB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7B9A9E0B-B271-B5FD-4AAA-C768C05DF03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9E16FD8A-C9C0-B15B-17C1-D1491D864B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780169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06C7B800-B5F6-6F36-2E54-A27474B58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FA3943BC-81F0-C4BD-7CF6-97B9B8416CE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CAB2F029-C7D1-3CD7-9781-010AE9A0F1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6356351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>
          <a:extLst>
            <a:ext uri="{FF2B5EF4-FFF2-40B4-BE49-F238E27FC236}">
              <a16:creationId xmlns:a16="http://schemas.microsoft.com/office/drawing/2014/main" id="{458A1D41-5664-EAD6-86BC-D84EB025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34218b68ef_0_690:notes">
            <a:extLst>
              <a:ext uri="{FF2B5EF4-FFF2-40B4-BE49-F238E27FC236}">
                <a16:creationId xmlns:a16="http://schemas.microsoft.com/office/drawing/2014/main" id="{B20A1312-7F47-AA50-D5B8-E2EC99A384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334218b68ef_0_690:notes">
            <a:extLst>
              <a:ext uri="{FF2B5EF4-FFF2-40B4-BE49-F238E27FC236}">
                <a16:creationId xmlns:a16="http://schemas.microsoft.com/office/drawing/2014/main" id="{A8709697-0ECF-C6DC-CFB0-41EE02180B9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21083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_4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HEADER_1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_AND_BODY_1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_AND_TWO_COLUMNS_1_1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_ONLY_1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_1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_1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_2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CUSTOM_7_1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99" name="Google Shape;99;p25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0" name="Google Shape;100;p25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1" name="Google Shape;101;p25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2" name="Google Shape;102;p25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3" name="Google Shape;103;p25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CUSTOM_8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07" name="Google Shape;107;p26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12" name="Google Shape;112;p27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27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p27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15" name="Google Shape;115;p27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CUSTOM_2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19" name="Google Shape;119;p28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0" name="Google Shape;120;p28"/>
          <p:cNvSpPr txBox="1">
            <a:spLocks noGrp="1"/>
          </p:cNvSpPr>
          <p:nvPr>
            <p:ph type="body" idx="3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ubTitle" idx="4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3" name="Google Shape;123;p28"/>
          <p:cNvSpPr txBox="1">
            <a:spLocks noGrp="1"/>
          </p:cNvSpPr>
          <p:nvPr>
            <p:ph type="subTitle" idx="5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24" name="Google Shape;124;p28"/>
          <p:cNvSpPr txBox="1">
            <a:spLocks noGrp="1"/>
          </p:cNvSpPr>
          <p:nvPr>
            <p:ph type="subTitle" idx="6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CUSTOM_3_1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p29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29" name="Google Shape;129;p29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p29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>
            <a:endParaRPr/>
          </a:p>
        </p:txBody>
      </p:sp>
      <p:sp>
        <p:nvSpPr>
          <p:cNvPr id="131" name="Google Shape;131;p29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132" name="Google Shape;132;p29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3" name="Google Shape;133;p29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4" name="Google Shape;134;p29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35" name="Google Shape;135;p29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_ONLY_1_1"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3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CUSTOM_4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2" name="Google Shape;142;p31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45" name="Google Shape;145;p3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7" name="Google Shape;147;p31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48" name="Google Shape;148;p31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CUSTOM_4_1_1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1" name="Google Shape;151;p32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4" name="Google Shape;154;p32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60" name="Google Shape;160;p32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CUSTOM_5_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CUSTOM_6_1"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34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BLANK_1"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178" name="Google Shape;178;p3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79" name="Google Shape;179;p3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secHead">
  <p:cSld name="SECTION_HEADER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>
            <a:spLocks noGrp="1"/>
          </p:cNvSpPr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36"/>
          <p:cNvSpPr txBox="1">
            <a:spLocks noGrp="1"/>
          </p:cNvSpPr>
          <p:nvPr>
            <p:ph type="body" idx="1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183" name="Google Shape;183;p36"/>
          <p:cNvSpPr txBox="1">
            <a:spLocks noGrp="1"/>
          </p:cNvSpPr>
          <p:nvPr>
            <p:ph type="subTitle" idx="2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4" name="Google Shape;184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/ Content" type="tx">
  <p:cSld name="TITLE_AND_BODY">
    <p:bg>
      <p:bgPr>
        <a:solidFill>
          <a:schemeClr val="accent4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>
            <a:spLocks noGrp="1"/>
          </p:cNvSpPr>
          <p:nvPr>
            <p:ph type="subTitle" idx="1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7" name="Google Shape;187;p37"/>
          <p:cNvSpPr txBox="1">
            <a:spLocks noGrp="1"/>
          </p:cNvSpPr>
          <p:nvPr>
            <p:ph type="body" idx="2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88" name="Google Shape;188;p37"/>
          <p:cNvSpPr txBox="1">
            <a:spLocks noGrp="1"/>
          </p:cNvSpPr>
          <p:nvPr>
            <p:ph type="subTitle" idx="3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89" name="Google Shape;189;p37"/>
          <p:cNvSpPr txBox="1">
            <a:spLocks noGrp="1"/>
          </p:cNvSpPr>
          <p:nvPr>
            <p:ph type="body" idx="4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0" name="Google Shape;190;p37"/>
          <p:cNvSpPr txBox="1">
            <a:spLocks noGrp="1"/>
          </p:cNvSpPr>
          <p:nvPr>
            <p:ph type="body" idx="5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1" name="Google Shape;191;p37"/>
          <p:cNvSpPr txBox="1">
            <a:spLocks noGrp="1"/>
          </p:cNvSpPr>
          <p:nvPr>
            <p:ph type="subTitle" idx="6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2" name="Google Shape;192;p37"/>
          <p:cNvSpPr txBox="1">
            <a:spLocks noGrp="1"/>
          </p:cNvSpPr>
          <p:nvPr>
            <p:ph type="body" idx="7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3" name="Google Shape;193;p37"/>
          <p:cNvSpPr txBox="1">
            <a:spLocks noGrp="1"/>
          </p:cNvSpPr>
          <p:nvPr>
            <p:ph type="body" idx="8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4" name="Google Shape;194;p37"/>
          <p:cNvSpPr txBox="1">
            <a:spLocks noGrp="1"/>
          </p:cNvSpPr>
          <p:nvPr>
            <p:ph type="subTitle" idx="9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5" name="Google Shape;195;p37"/>
          <p:cNvSpPr txBox="1">
            <a:spLocks noGrp="1"/>
          </p:cNvSpPr>
          <p:nvPr>
            <p:ph type="body" idx="13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6" name="Google Shape;196;p37"/>
          <p:cNvSpPr txBox="1">
            <a:spLocks noGrp="1"/>
          </p:cNvSpPr>
          <p:nvPr>
            <p:ph type="body" idx="14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197" name="Google Shape;197;p37"/>
          <p:cNvSpPr txBox="1">
            <a:spLocks noGrp="1"/>
          </p:cNvSpPr>
          <p:nvPr>
            <p:ph type="subTitle" idx="15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198" name="Google Shape;198;p37"/>
          <p:cNvSpPr txBox="1">
            <a:spLocks noGrp="1"/>
          </p:cNvSpPr>
          <p:nvPr>
            <p:ph type="body" idx="16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199" name="Google Shape;199;p37"/>
          <p:cNvSpPr txBox="1">
            <a:spLocks noGrp="1"/>
          </p:cNvSpPr>
          <p:nvPr>
            <p:ph type="body" idx="17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0" name="Google Shape;200;p37"/>
          <p:cNvSpPr txBox="1">
            <a:spLocks noGrp="1"/>
          </p:cNvSpPr>
          <p:nvPr>
            <p:ph type="subTitle" idx="18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1" name="Google Shape;201;p37"/>
          <p:cNvSpPr txBox="1">
            <a:spLocks noGrp="1"/>
          </p:cNvSpPr>
          <p:nvPr>
            <p:ph type="body" idx="19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2" name="Google Shape;202;p37"/>
          <p:cNvSpPr txBox="1">
            <a:spLocks noGrp="1"/>
          </p:cNvSpPr>
          <p:nvPr>
            <p:ph type="body" idx="20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3175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3111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30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2984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2921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2857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279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27305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03" name="Google Shape;203;p37"/>
          <p:cNvSpPr txBox="1">
            <a:spLocks noGrp="1"/>
          </p:cNvSpPr>
          <p:nvPr>
            <p:ph type="subTitle" idx="21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04" name="Google Shape;204;p37"/>
          <p:cNvSpPr txBox="1">
            <a:spLocks noGrp="1"/>
          </p:cNvSpPr>
          <p:nvPr>
            <p:ph type="body" idx="22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05" name="Google Shape;205;p3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+ Image" type="twoColTx">
  <p:cSld name="TITLE_AND_TWO_COLUMNS">
    <p:bg>
      <p:bgPr>
        <a:solidFill>
          <a:schemeClr val="dk1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i="1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sz="700" i="1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>
            <a:spLocks noGrp="1"/>
          </p:cNvSpPr>
          <p:nvPr>
            <p:ph type="pic" idx="2"/>
          </p:nvPr>
        </p:nvSpPr>
        <p:spPr>
          <a:xfrm>
            <a:off x="3915225" y="1631250"/>
            <a:ext cx="4441200" cy="30099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>
            <a:spLocks noGrp="1"/>
          </p:cNvSpPr>
          <p:nvPr>
            <p:ph type="body" idx="1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11" name="Google Shape;211;p38"/>
          <p:cNvSpPr txBox="1">
            <a:spLocks noGrp="1"/>
          </p:cNvSpPr>
          <p:nvPr>
            <p:ph type="subTitle" idx="3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2" name="Google Shape;212;p3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AND_TWO_COLUMNS_1">
    <p:bg>
      <p:bgPr>
        <a:solidFill>
          <a:schemeClr val="dk1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3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16" name="Google Shape;216;p39"/>
          <p:cNvSpPr txBox="1">
            <a:spLocks noGrp="1"/>
          </p:cNvSpPr>
          <p:nvPr>
            <p:ph type="body" idx="2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7" name="Google Shape;217;p39"/>
          <p:cNvSpPr txBox="1">
            <a:spLocks noGrp="1"/>
          </p:cNvSpPr>
          <p:nvPr>
            <p:ph type="body" idx="3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18" name="Google Shape;218;p3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/ Company Overview" type="titleOnly">
  <p:cSld name="TITLE_ONLY">
    <p:bg>
      <p:bgPr>
        <a:solidFill>
          <a:schemeClr val="accent4"/>
        </a:solidFill>
        <a:effectLst/>
      </p:bgPr>
    </p:bg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>
            <a:spLocks noGrp="1"/>
          </p:cNvSpPr>
          <p:nvPr>
            <p:ph type="pic" idx="2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>
            <a:spLocks noGrp="1"/>
          </p:cNvSpPr>
          <p:nvPr>
            <p:ph type="pic" idx="3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>
            <a:spLocks noGrp="1"/>
          </p:cNvSpPr>
          <p:nvPr>
            <p:ph type="pic" idx="4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>
            <a:spLocks noGrp="1"/>
          </p:cNvSpPr>
          <p:nvPr>
            <p:ph type="pic" idx="5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>
            <a:spLocks noGrp="1"/>
          </p:cNvSpPr>
          <p:nvPr>
            <p:ph type="body" idx="1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225" name="Google Shape;225;p40"/>
          <p:cNvSpPr txBox="1">
            <a:spLocks noGrp="1"/>
          </p:cNvSpPr>
          <p:nvPr>
            <p:ph type="body" idx="6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26" name="Google Shape;226;p40"/>
          <p:cNvSpPr txBox="1">
            <a:spLocks noGrp="1"/>
          </p:cNvSpPr>
          <p:nvPr>
            <p:ph type="body" idx="7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7" name="Google Shape;227;p40"/>
          <p:cNvSpPr txBox="1">
            <a:spLocks noGrp="1"/>
          </p:cNvSpPr>
          <p:nvPr>
            <p:ph type="body" idx="8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8" name="Google Shape;228;p40"/>
          <p:cNvSpPr txBox="1">
            <a:spLocks noGrp="1"/>
          </p:cNvSpPr>
          <p:nvPr>
            <p:ph type="body" idx="9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29" name="Google Shape;229;p40"/>
          <p:cNvSpPr txBox="1">
            <a:spLocks noGrp="1"/>
          </p:cNvSpPr>
          <p:nvPr>
            <p:ph type="body" idx="13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0" name="Google Shape;230;p40"/>
          <p:cNvSpPr txBox="1">
            <a:spLocks noGrp="1"/>
          </p:cNvSpPr>
          <p:nvPr>
            <p:ph type="body" idx="14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1" name="Google Shape;231;p40"/>
          <p:cNvSpPr txBox="1">
            <a:spLocks noGrp="1"/>
          </p:cNvSpPr>
          <p:nvPr>
            <p:ph type="body" idx="15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2" name="Google Shape;232;p40"/>
          <p:cNvSpPr txBox="1">
            <a:spLocks noGrp="1"/>
          </p:cNvSpPr>
          <p:nvPr>
            <p:ph type="body" idx="16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3" name="Google Shape;233;p40"/>
          <p:cNvSpPr txBox="1">
            <a:spLocks noGrp="1"/>
          </p:cNvSpPr>
          <p:nvPr>
            <p:ph type="body" idx="17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34" name="Google Shape;234;p40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etitive Landscape">
  <p:cSld name="ONE_COLUMN_TEXT">
    <p:bg>
      <p:bgPr>
        <a:solidFill>
          <a:schemeClr val="dk1"/>
        </a:solidFill>
        <a:effectLst/>
      </p:bgPr>
    </p:bg>
    <p:spTree>
      <p:nvGrpSpPr>
        <p:cNvPr id="1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>
            <a:spLocks noGrp="1"/>
          </p:cNvSpPr>
          <p:nvPr>
            <p:ph type="body" idx="1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37" name="Google Shape;237;p41"/>
          <p:cNvSpPr txBox="1">
            <a:spLocks noGrp="1"/>
          </p:cNvSpPr>
          <p:nvPr>
            <p:ph type="subTitle" idx="2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38" name="Google Shape;238;p4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Trends + Data">
  <p:cSld name="MAIN_POINT">
    <p:bg>
      <p:bgPr>
        <a:solidFill>
          <a:schemeClr val="dk1"/>
        </a:solidFill>
        <a:effectLst/>
      </p:bgPr>
    </p:bg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>
            <a:spLocks noGrp="1"/>
          </p:cNvSpPr>
          <p:nvPr>
            <p:ph type="subTitle" idx="1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41" name="Google Shape;241;p42"/>
          <p:cNvSpPr txBox="1">
            <a:spLocks noGrp="1"/>
          </p:cNvSpPr>
          <p:nvPr>
            <p:ph type="subTitle" idx="2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>
            <a:endParaRPr/>
          </a:p>
        </p:txBody>
      </p:sp>
      <p:sp>
        <p:nvSpPr>
          <p:cNvPr id="242" name="Google Shape;242;p42"/>
          <p:cNvSpPr txBox="1">
            <a:spLocks noGrp="1"/>
          </p:cNvSpPr>
          <p:nvPr>
            <p:ph type="body" idx="3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43" name="Google Shape;243;p4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WOT Analysis">
  <p:cSld name="CUSTOM_14">
    <p:bg>
      <p:bgPr>
        <a:solidFill>
          <a:schemeClr val="dk1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>
            <a:spLocks noGrp="1"/>
          </p:cNvSpPr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6" name="Google Shape;246;p43"/>
          <p:cNvSpPr txBox="1">
            <a:spLocks noGrp="1"/>
          </p:cNvSpPr>
          <p:nvPr>
            <p:ph type="title" idx="2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7" name="Google Shape;247;p43"/>
          <p:cNvSpPr txBox="1">
            <a:spLocks noGrp="1"/>
          </p:cNvSpPr>
          <p:nvPr>
            <p:ph type="title" idx="3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8" name="Google Shape;248;p43"/>
          <p:cNvSpPr txBox="1">
            <a:spLocks noGrp="1"/>
          </p:cNvSpPr>
          <p:nvPr>
            <p:ph type="title" idx="4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49" name="Google Shape;249;p43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0" name="Google Shape;250;p43"/>
          <p:cNvSpPr txBox="1">
            <a:spLocks noGrp="1"/>
          </p:cNvSpPr>
          <p:nvPr>
            <p:ph type="body" idx="5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51" name="Google Shape;251;p4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losing / Thank You">
  <p:cSld name="CUSTOM_13">
    <p:bg>
      <p:bgPr>
        <a:solidFill>
          <a:schemeClr val="lt1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>
            <a:spLocks noGrp="1"/>
          </p:cNvSpPr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4" name="Google Shape;254;p44"/>
          <p:cNvSpPr txBox="1">
            <a:spLocks noGrp="1"/>
          </p:cNvSpPr>
          <p:nvPr>
            <p:ph type="body" idx="1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55" name="Google Shape;255;p4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_TITLE_AND_DESCRIPTION"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58" name="Google Shape;258;p45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59" name="Google Shape;259;p4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rket Size / Pie Graph">
  <p:cSld name="CAPTION_ONLY">
    <p:bg>
      <p:bgPr>
        <a:solidFill>
          <a:schemeClr val="dk1"/>
        </a:solidFill>
        <a:effectLst/>
      </p:bgPr>
    </p:bg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46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63" name="Google Shape;263;p46"/>
          <p:cNvSpPr txBox="1">
            <a:spLocks noGrp="1"/>
          </p:cNvSpPr>
          <p:nvPr>
            <p:ph type="body" idx="2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marL="1371600" lvl="2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marL="1828800" lvl="3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marL="2286000" lvl="4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marL="2743200" lvl="5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marL="3200400" lvl="6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marL="3657600" lvl="7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marL="4114800" lvl="8" indent="-3238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64" name="Google Shape;264;p4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name="adj1" fmla="val 8241844"/>
              <a:gd name="adj2" fmla="val 12554936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68575" tIns="68575" rIns="68575" bIns="6857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fferentiators / 4 column text">
  <p:cSld name="BIG_NUMBER">
    <p:bg>
      <p:bgPr>
        <a:solidFill>
          <a:schemeClr val="dk1"/>
        </a:solidFill>
        <a:effectLst/>
      </p:bgPr>
    </p:bg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>
            <a:spLocks noGrp="1"/>
          </p:cNvSpPr>
          <p:nvPr>
            <p:ph type="subTitle" idx="1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3" name="Google Shape;273;p47"/>
          <p:cNvSpPr txBox="1">
            <a:spLocks noGrp="1"/>
          </p:cNvSpPr>
          <p:nvPr>
            <p:ph type="body" idx="2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74" name="Google Shape;274;p4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blank">
  <p:cSld name="BLANK"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77" name="Google Shape;277;p48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78" name="Google Shape;278;p4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 text">
  <p:cSld name="TITLE_1">
    <p:bg>
      <p:bgPr>
        <a:solidFill>
          <a:schemeClr val="dk1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49"/>
          <p:cNvSpPr txBox="1">
            <a:spLocks noGrp="1"/>
          </p:cNvSpPr>
          <p:nvPr>
            <p:ph type="subTitle" idx="1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2" name="Google Shape;282;p49"/>
          <p:cNvSpPr txBox="1">
            <a:spLocks noGrp="1"/>
          </p:cNvSpPr>
          <p:nvPr>
            <p:ph type="body" idx="2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49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 Background Image + Text">
  <p:cSld name="CUSTOM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>
            <a:spLocks noGrp="1"/>
          </p:cNvSpPr>
          <p:nvPr>
            <p:ph type="body" idx="1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0" rIns="274300" bIns="27430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7" name="Google Shape;287;p50"/>
          <p:cNvSpPr txBox="1">
            <a:spLocks noGrp="1"/>
          </p:cNvSpPr>
          <p:nvPr>
            <p:ph type="subTitle" idx="3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274300" tIns="274300" rIns="27430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288" name="Google Shape;288;p50"/>
          <p:cNvSpPr txBox="1">
            <a:spLocks noGrp="1"/>
          </p:cNvSpPr>
          <p:nvPr>
            <p:ph type="body" idx="4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137150" tIns="137150" rIns="137150" bIns="13715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289" name="Google Shape;289;p5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+ Image">
  <p:cSld name="CUSTOM_1">
    <p:bg>
      <p:bgPr>
        <a:solidFill>
          <a:schemeClr val="lt2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>
            <a:spLocks noGrp="1"/>
          </p:cNvSpPr>
          <p:nvPr>
            <p:ph type="pic" idx="2"/>
          </p:nvPr>
        </p:nvSpPr>
        <p:spPr>
          <a:xfrm>
            <a:off x="5485725" y="523025"/>
            <a:ext cx="3135300" cy="40977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>
            <a:spLocks noGrp="1"/>
          </p:cNvSpPr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293" name="Google Shape;293;p51"/>
          <p:cNvSpPr txBox="1">
            <a:spLocks noGrp="1"/>
          </p:cNvSpPr>
          <p:nvPr>
            <p:ph type="body" idx="1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4" name="Google Shape;294;p51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oals + 5 Images">
  <p:cSld name="CUSTOM_2">
    <p:bg>
      <p:bgPr>
        <a:solidFill>
          <a:schemeClr val="dk1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>
            <a:spLocks noGrp="1"/>
          </p:cNvSpPr>
          <p:nvPr>
            <p:ph type="body" idx="1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7" name="Google Shape;297;p52"/>
          <p:cNvSpPr txBox="1">
            <a:spLocks noGrp="1"/>
          </p:cNvSpPr>
          <p:nvPr>
            <p:ph type="body" idx="2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8" name="Google Shape;298;p52"/>
          <p:cNvSpPr txBox="1">
            <a:spLocks noGrp="1"/>
          </p:cNvSpPr>
          <p:nvPr>
            <p:ph type="body" idx="3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299" name="Google Shape;299;p52"/>
          <p:cNvSpPr txBox="1">
            <a:spLocks noGrp="1"/>
          </p:cNvSpPr>
          <p:nvPr>
            <p:ph type="body" idx="4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0" name="Google Shape;300;p52"/>
          <p:cNvSpPr txBox="1">
            <a:spLocks noGrp="1"/>
          </p:cNvSpPr>
          <p:nvPr>
            <p:ph type="body" idx="5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01" name="Google Shape;301;p52"/>
          <p:cNvSpPr txBox="1">
            <a:spLocks noGrp="1"/>
          </p:cNvSpPr>
          <p:nvPr>
            <p:ph type="body" idx="6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3" name="Google Shape;303;p52"/>
          <p:cNvSpPr>
            <a:spLocks noGrp="1"/>
          </p:cNvSpPr>
          <p:nvPr>
            <p:ph type="pic" idx="7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4" name="Google Shape;304;p52"/>
          <p:cNvSpPr>
            <a:spLocks noGrp="1"/>
          </p:cNvSpPr>
          <p:nvPr>
            <p:ph type="pic" idx="8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5" name="Google Shape;305;p52"/>
          <p:cNvSpPr>
            <a:spLocks noGrp="1"/>
          </p:cNvSpPr>
          <p:nvPr>
            <p:ph type="pic" idx="9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6" name="Google Shape;306;p52"/>
          <p:cNvSpPr>
            <a:spLocks noGrp="1"/>
          </p:cNvSpPr>
          <p:nvPr>
            <p:ph type="pic" idx="13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7" name="Google Shape;307;p52"/>
          <p:cNvSpPr>
            <a:spLocks noGrp="1"/>
          </p:cNvSpPr>
          <p:nvPr>
            <p:ph type="pic" idx="14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>
            <a:spLocks noGrp="1"/>
          </p:cNvSpPr>
          <p:nvPr>
            <p:ph type="body" idx="15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09" name="Google Shape;309;p52"/>
          <p:cNvSpPr txBox="1">
            <a:spLocks noGrp="1"/>
          </p:cNvSpPr>
          <p:nvPr>
            <p:ph type="subTitle" idx="16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10" name="Google Shape;310;p52"/>
          <p:cNvSpPr txBox="1">
            <a:spLocks noGrp="1"/>
          </p:cNvSpPr>
          <p:nvPr>
            <p:ph type="body" idx="17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1" name="Google Shape;311;p52"/>
          <p:cNvSpPr txBox="1">
            <a:spLocks noGrp="1"/>
          </p:cNvSpPr>
          <p:nvPr>
            <p:ph type="body" idx="18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2" name="Google Shape;312;p52"/>
          <p:cNvSpPr txBox="1">
            <a:spLocks noGrp="1"/>
          </p:cNvSpPr>
          <p:nvPr>
            <p:ph type="body" idx="19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3" name="Google Shape;313;p52"/>
          <p:cNvSpPr txBox="1">
            <a:spLocks noGrp="1"/>
          </p:cNvSpPr>
          <p:nvPr>
            <p:ph type="body" idx="20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14" name="Google Shape;314;p52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trategy Canvas / Line Graph">
  <p:cSld name="CUSTOM_3">
    <p:bg>
      <p:bgPr>
        <a:solidFill>
          <a:schemeClr val="dk1"/>
        </a:solidFill>
        <a:effectLst/>
      </p:bgPr>
    </p:bg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>
            <a:spLocks noGrp="1"/>
          </p:cNvSpPr>
          <p:nvPr>
            <p:ph type="body" idx="1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17" name="Google Shape;317;p53"/>
          <p:cNvSpPr txBox="1">
            <a:spLocks noGrp="1"/>
          </p:cNvSpPr>
          <p:nvPr>
            <p:ph type="subTitle" idx="2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18" name="Google Shape;318;p53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CUSTOM_4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>
            <a:spLocks noGrp="1"/>
          </p:cNvSpPr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21" name="Google Shape;321;p54"/>
          <p:cNvSpPr txBox="1">
            <a:spLocks noGrp="1"/>
          </p:cNvSpPr>
          <p:nvPr>
            <p:ph type="title" idx="2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322" name="Google Shape;322;p5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KPIs / Objectives">
  <p:cSld name="CUSTOM_5">
    <p:bg>
      <p:bgPr>
        <a:solidFill>
          <a:schemeClr val="dk1"/>
        </a:solidFill>
        <a:effectLst/>
      </p:bgPr>
    </p:bg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name="adj1" fmla="val 16667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>
            <a:spLocks noGrp="1"/>
          </p:cNvSpPr>
          <p:nvPr>
            <p:ph type="body" idx="1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6" name="Google Shape;326;p55"/>
          <p:cNvSpPr txBox="1">
            <a:spLocks noGrp="1"/>
          </p:cNvSpPr>
          <p:nvPr>
            <p:ph type="body" idx="2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7" name="Google Shape;327;p55"/>
          <p:cNvSpPr txBox="1">
            <a:spLocks noGrp="1"/>
          </p:cNvSpPr>
          <p:nvPr>
            <p:ph type="body" idx="3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8" name="Google Shape;328;p55"/>
          <p:cNvSpPr txBox="1">
            <a:spLocks noGrp="1"/>
          </p:cNvSpPr>
          <p:nvPr>
            <p:ph type="body" idx="4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29" name="Google Shape;329;p55"/>
          <p:cNvSpPr>
            <a:spLocks noGrp="1"/>
          </p:cNvSpPr>
          <p:nvPr>
            <p:ph type="pic" idx="5"/>
          </p:nvPr>
        </p:nvSpPr>
        <p:spPr>
          <a:xfrm>
            <a:off x="7049625" y="15881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0" name="Google Shape;330;p55"/>
          <p:cNvSpPr>
            <a:spLocks noGrp="1"/>
          </p:cNvSpPr>
          <p:nvPr>
            <p:ph type="pic" idx="6"/>
          </p:nvPr>
        </p:nvSpPr>
        <p:spPr>
          <a:xfrm>
            <a:off x="3915213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1" name="Google Shape;331;p55"/>
          <p:cNvSpPr>
            <a:spLocks noGrp="1"/>
          </p:cNvSpPr>
          <p:nvPr>
            <p:ph type="pic" idx="7"/>
          </p:nvPr>
        </p:nvSpPr>
        <p:spPr>
          <a:xfrm>
            <a:off x="5490975" y="15886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>
            <a:spLocks noGrp="1"/>
          </p:cNvSpPr>
          <p:nvPr>
            <p:ph type="subTitle" idx="8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3" name="Google Shape;333;p55"/>
          <p:cNvSpPr txBox="1">
            <a:spLocks noGrp="1"/>
          </p:cNvSpPr>
          <p:nvPr>
            <p:ph type="subTitle" idx="9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4" name="Google Shape;334;p55"/>
          <p:cNvSpPr txBox="1">
            <a:spLocks noGrp="1"/>
          </p:cNvSpPr>
          <p:nvPr>
            <p:ph type="subTitle" idx="13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>
            <a:endParaRPr/>
          </a:p>
        </p:txBody>
      </p:sp>
      <p:sp>
        <p:nvSpPr>
          <p:cNvPr id="335" name="Google Shape;335;p55"/>
          <p:cNvSpPr txBox="1">
            <a:spLocks noGrp="1"/>
          </p:cNvSpPr>
          <p:nvPr>
            <p:ph type="body" idx="14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36" name="Google Shape;336;p55"/>
          <p:cNvSpPr txBox="1">
            <a:spLocks noGrp="1"/>
          </p:cNvSpPr>
          <p:nvPr>
            <p:ph type="body" idx="15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7" name="Google Shape;337;p55"/>
          <p:cNvSpPr txBox="1">
            <a:spLocks noGrp="1"/>
          </p:cNvSpPr>
          <p:nvPr>
            <p:ph type="body" idx="16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38" name="Google Shape;338;p55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ction Plan + 5 Images">
  <p:cSld name="CUSTOM_6">
    <p:bg>
      <p:bgPr>
        <a:solidFill>
          <a:schemeClr val="accent6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>
            <a:spLocks noGrp="1"/>
          </p:cNvSpPr>
          <p:nvPr>
            <p:ph type="body" idx="1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41" name="Google Shape;341;p56"/>
          <p:cNvSpPr txBox="1">
            <a:spLocks noGrp="1"/>
          </p:cNvSpPr>
          <p:nvPr>
            <p:ph type="body" idx="2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3" name="Google Shape;343;p56"/>
          <p:cNvSpPr>
            <a:spLocks noGrp="1"/>
          </p:cNvSpPr>
          <p:nvPr>
            <p:ph type="pic" idx="3"/>
          </p:nvPr>
        </p:nvSpPr>
        <p:spPr>
          <a:xfrm>
            <a:off x="7049625" y="523025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4" name="Google Shape;344;p56"/>
          <p:cNvSpPr>
            <a:spLocks noGrp="1"/>
          </p:cNvSpPr>
          <p:nvPr>
            <p:ph type="pic" idx="4"/>
          </p:nvPr>
        </p:nvSpPr>
        <p:spPr>
          <a:xfrm>
            <a:off x="784775" y="5221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5" name="Google Shape;345;p56"/>
          <p:cNvSpPr>
            <a:spLocks noGrp="1"/>
          </p:cNvSpPr>
          <p:nvPr>
            <p:ph type="pic" idx="5"/>
          </p:nvPr>
        </p:nvSpPr>
        <p:spPr>
          <a:xfrm>
            <a:off x="2343950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6" name="Google Shape;346;p56"/>
          <p:cNvSpPr>
            <a:spLocks noGrp="1"/>
          </p:cNvSpPr>
          <p:nvPr>
            <p:ph type="pic" idx="6"/>
          </p:nvPr>
        </p:nvSpPr>
        <p:spPr>
          <a:xfrm>
            <a:off x="3915213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7" name="Google Shape;347;p56"/>
          <p:cNvSpPr>
            <a:spLocks noGrp="1"/>
          </p:cNvSpPr>
          <p:nvPr>
            <p:ph type="pic" idx="7"/>
          </p:nvPr>
        </p:nvSpPr>
        <p:spPr>
          <a:xfrm>
            <a:off x="5490975" y="523500"/>
            <a:ext cx="1305900" cy="1918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>
            <a:spLocks noGrp="1"/>
          </p:cNvSpPr>
          <p:nvPr>
            <p:ph type="body" idx="8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49" name="Google Shape;349;p56"/>
          <p:cNvSpPr txBox="1">
            <a:spLocks noGrp="1"/>
          </p:cNvSpPr>
          <p:nvPr>
            <p:ph type="subTitle" idx="9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50" name="Google Shape;350;p56"/>
          <p:cNvSpPr txBox="1">
            <a:spLocks noGrp="1"/>
          </p:cNvSpPr>
          <p:nvPr>
            <p:ph type="body" idx="13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1" name="Google Shape;351;p56"/>
          <p:cNvSpPr txBox="1">
            <a:spLocks noGrp="1"/>
          </p:cNvSpPr>
          <p:nvPr>
            <p:ph type="body" idx="14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2" name="Google Shape;352;p56"/>
          <p:cNvSpPr txBox="1">
            <a:spLocks noGrp="1"/>
          </p:cNvSpPr>
          <p:nvPr>
            <p:ph type="body" idx="15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3" name="Google Shape;353;p56"/>
          <p:cNvSpPr txBox="1">
            <a:spLocks noGrp="1"/>
          </p:cNvSpPr>
          <p:nvPr>
            <p:ph type="body" idx="16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4" name="Google Shape;354;p56"/>
          <p:cNvSpPr txBox="1">
            <a:spLocks noGrp="1"/>
          </p:cNvSpPr>
          <p:nvPr>
            <p:ph type="body" idx="17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5" name="Google Shape;355;p56"/>
          <p:cNvSpPr txBox="1">
            <a:spLocks noGrp="1"/>
          </p:cNvSpPr>
          <p:nvPr>
            <p:ph type="body" idx="18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6" name="Google Shape;356;p56"/>
          <p:cNvSpPr txBox="1">
            <a:spLocks noGrp="1"/>
          </p:cNvSpPr>
          <p:nvPr>
            <p:ph type="body" idx="19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7" name="Google Shape;357;p56"/>
          <p:cNvSpPr txBox="1">
            <a:spLocks noGrp="1"/>
          </p:cNvSpPr>
          <p:nvPr>
            <p:ph type="body" idx="20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marL="914400" lvl="1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marL="1371600" lvl="2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marL="1828800" lvl="3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marL="2286000" lvl="4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marL="2743200" lvl="5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marL="3200400" lvl="6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marL="3657600" lvl="7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endParaRPr/>
          </a:p>
        </p:txBody>
      </p:sp>
      <p:sp>
        <p:nvSpPr>
          <p:cNvPr id="358" name="Google Shape;358;p56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 Graphic">
  <p:cSld name="CUSTOM_9">
    <p:bg>
      <p:bgPr>
        <a:solidFill>
          <a:schemeClr val="dk1"/>
        </a:solidFill>
        <a:effectLst/>
      </p:bgPr>
    </p:bg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>
            <a:spLocks noGrp="1"/>
          </p:cNvSpPr>
          <p:nvPr>
            <p:ph type="body" idx="1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1" name="Google Shape;361;p57"/>
          <p:cNvSpPr txBox="1">
            <a:spLocks noGrp="1"/>
          </p:cNvSpPr>
          <p:nvPr>
            <p:ph type="body" idx="2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marL="914400" lvl="1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marL="1371600" lvl="2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marL="1828800" lvl="3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marL="2286000" lvl="4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marL="2743200" lvl="5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marL="3200400" lvl="6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marL="3657600" lvl="7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marL="4114800" lvl="8" indent="-406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362" name="Google Shape;362;p57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venue / Graphic">
  <p:cSld name="CUSTOM_12">
    <p:bg>
      <p:bgPr>
        <a:solidFill>
          <a:schemeClr val="dk1"/>
        </a:solidFill>
        <a:effectLst/>
      </p:bgPr>
    </p:bg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>
            <a:spLocks noGrp="1"/>
          </p:cNvSpPr>
          <p:nvPr>
            <p:ph type="body" idx="1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endParaRPr/>
          </a:p>
        </p:txBody>
      </p:sp>
      <p:sp>
        <p:nvSpPr>
          <p:cNvPr id="365" name="Google Shape;365;p58"/>
          <p:cNvSpPr txBox="1">
            <a:spLocks noGrp="1"/>
          </p:cNvSpPr>
          <p:nvPr>
            <p:ph type="subTitle" idx="2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>
            <a:endParaRPr/>
          </a:p>
        </p:txBody>
      </p:sp>
      <p:sp>
        <p:nvSpPr>
          <p:cNvPr id="366" name="Google Shape;366;p58"/>
          <p:cNvSpPr txBox="1">
            <a:spLocks noGrp="1"/>
          </p:cNvSpPr>
          <p:nvPr>
            <p:ph type="sldNum" idx="12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slideLayout" Target="../slideLayouts/slideLayout37.xml"/><Relationship Id="rId39" Type="http://schemas.openxmlformats.org/officeDocument/2006/relationships/slideLayout" Target="../slideLayouts/slideLayout50.xml"/><Relationship Id="rId21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45.xml"/><Relationship Id="rId42" Type="http://schemas.openxmlformats.org/officeDocument/2006/relationships/slideLayout" Target="../slideLayouts/slideLayout53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40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32" Type="http://schemas.openxmlformats.org/officeDocument/2006/relationships/slideLayout" Target="../slideLayouts/slideLayout43.xml"/><Relationship Id="rId37" Type="http://schemas.openxmlformats.org/officeDocument/2006/relationships/slideLayout" Target="../slideLayouts/slideLayout48.xml"/><Relationship Id="rId40" Type="http://schemas.openxmlformats.org/officeDocument/2006/relationships/slideLayout" Target="../slideLayouts/slideLayout51.xml"/><Relationship Id="rId45" Type="http://schemas.openxmlformats.org/officeDocument/2006/relationships/slideLayout" Target="../slideLayouts/slideLayout56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28" Type="http://schemas.openxmlformats.org/officeDocument/2006/relationships/slideLayout" Target="../slideLayouts/slideLayout39.xml"/><Relationship Id="rId36" Type="http://schemas.openxmlformats.org/officeDocument/2006/relationships/slideLayout" Target="../slideLayouts/slideLayout47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42.xml"/><Relationship Id="rId44" Type="http://schemas.openxmlformats.org/officeDocument/2006/relationships/slideLayout" Target="../slideLayouts/slideLayout55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Relationship Id="rId27" Type="http://schemas.openxmlformats.org/officeDocument/2006/relationships/slideLayout" Target="../slideLayouts/slideLayout38.xml"/><Relationship Id="rId30" Type="http://schemas.openxmlformats.org/officeDocument/2006/relationships/slideLayout" Target="../slideLayouts/slideLayout41.xml"/><Relationship Id="rId35" Type="http://schemas.openxmlformats.org/officeDocument/2006/relationships/slideLayout" Target="../slideLayouts/slideLayout46.xml"/><Relationship Id="rId43" Type="http://schemas.openxmlformats.org/officeDocument/2006/relationships/slideLayout" Target="../slideLayouts/slideLayout54.xml"/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33" Type="http://schemas.openxmlformats.org/officeDocument/2006/relationships/slideLayout" Target="../slideLayouts/slideLayout44.xml"/><Relationship Id="rId38" Type="http://schemas.openxmlformats.org/officeDocument/2006/relationships/slideLayout" Target="../slideLayouts/slideLayout49.xml"/><Relationship Id="rId46" Type="http://schemas.openxmlformats.org/officeDocument/2006/relationships/theme" Target="../theme/theme2.xml"/><Relationship Id="rId20" Type="http://schemas.openxmlformats.org/officeDocument/2006/relationships/slideLayout" Target="../slideLayouts/slideLayout31.xml"/><Relationship Id="rId41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marL="3657600" lvl="7" indent="-279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marL="4114800" lvl="8" indent="-27305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11.jpg"/><Relationship Id="rId5" Type="http://schemas.openxmlformats.org/officeDocument/2006/relationships/image" Target="../media/image10.jpg"/><Relationship Id="rId4" Type="http://schemas.openxmlformats.org/officeDocument/2006/relationships/image" Target="../media/image9.jp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>
            <a:spLocks noGrp="1"/>
          </p:cNvSpPr>
          <p:nvPr>
            <p:ph type="title"/>
          </p:nvPr>
        </p:nvSpPr>
        <p:spPr>
          <a:xfrm>
            <a:off x="512850" y="288328"/>
            <a:ext cx="7939774" cy="22550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-IN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Sign Language Interpreter</a:t>
            </a:r>
            <a:br>
              <a:rPr lang="en-IN" sz="46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</a:br>
            <a:r>
              <a:rPr lang="en-IN" sz="2800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(leveraging computer vision)</a:t>
            </a:r>
            <a:r>
              <a:rPr lang="en-IN" sz="2800" b="1" dirty="0">
                <a:solidFill>
                  <a:schemeClr val="accent3">
                    <a:lumMod val="20000"/>
                    <a:lumOff val="80000"/>
                  </a:schemeClr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 </a:t>
            </a:r>
            <a:endParaRPr sz="2800" b="1" dirty="0">
              <a:solidFill>
                <a:schemeClr val="accent3">
                  <a:lumMod val="20000"/>
                  <a:lumOff val="80000"/>
                </a:schemeClr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</p:txBody>
      </p:sp>
      <p:sp>
        <p:nvSpPr>
          <p:cNvPr id="372" name="Google Shape;372;p59"/>
          <p:cNvSpPr txBox="1">
            <a:spLocks noGrp="1"/>
          </p:cNvSpPr>
          <p:nvPr>
            <p:ph type="subTitle" idx="2"/>
          </p:nvPr>
        </p:nvSpPr>
        <p:spPr>
          <a:xfrm>
            <a:off x="365493" y="2385243"/>
            <a:ext cx="8604194" cy="24699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 algn="l">
              <a:buClr>
                <a:schemeClr val="lt1"/>
              </a:buClr>
              <a:buSzPts val="1100"/>
            </a:pPr>
            <a:r>
              <a:rPr lang="en" sz="1500" b="1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Team</a:t>
            </a:r>
            <a:r>
              <a:rPr lang="en" sz="15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: </a:t>
            </a:r>
            <a:r>
              <a:rPr lang="en" sz="1500" b="1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Tech Transofmers			          </a:t>
            </a:r>
            <a:r>
              <a:rPr lang="en-US" sz="1200" b="1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Date of Presentation  -28</a:t>
            </a:r>
            <a:r>
              <a:rPr lang="en-US" sz="1200" baseline="300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th</a:t>
            </a:r>
            <a:r>
              <a:rPr lang="en-US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April</a:t>
            </a:r>
            <a:r>
              <a:rPr lang="en-US" sz="16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</a:t>
            </a:r>
            <a:r>
              <a:rPr lang="en-US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2025</a:t>
            </a:r>
          </a:p>
          <a:p>
            <a:pPr mar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       Lasya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Facilitation, backend &amp; Integration</a:t>
            </a:r>
            <a:r>
              <a:rPr lang="en" sz="12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	</a:t>
            </a:r>
            <a:endParaRPr lang="en" sz="1500" dirty="0">
              <a:solidFill>
                <a:srgbClr val="FFFFFF"/>
              </a:solidFill>
              <a:latin typeface="Hepta Slab Light"/>
              <a:ea typeface="Hepta Slab Light"/>
              <a:cs typeface="Hepta Slab Light"/>
              <a:sym typeface="Hepta Slab Light"/>
            </a:endParaRPr>
          </a:p>
          <a:p>
            <a:pPr marL="0" lv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ea typeface="Hepta Slab Light"/>
                <a:cs typeface="Hepta Slab Light"/>
                <a:sym typeface="Hepta Slab Light"/>
              </a:rPr>
              <a:t>       Varshini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Design, Data acquisition and backend</a:t>
            </a:r>
          </a:p>
          <a:p>
            <a:pPr marL="0" lv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Mounika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Testing</a:t>
            </a:r>
          </a:p>
          <a:p>
            <a:pPr marL="0" lvl="0" indent="0" algn="l">
              <a:buClr>
                <a:schemeClr val="lt1"/>
              </a:buClr>
              <a:buSzPts val="1100"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Darsani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Debugging</a:t>
            </a:r>
            <a:endParaRPr lang="en" sz="1500" dirty="0">
              <a:solidFill>
                <a:srgbClr val="FFFFFF"/>
              </a:solidFill>
              <a:latin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Saanvi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Design			             </a:t>
            </a:r>
            <a:r>
              <a:rPr lang="en" sz="1200" b="1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Event    -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Second Evaluation	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Shritha 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Frontend </a:t>
            </a: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	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5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       Harini	- </a:t>
            </a: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Bug fix and regression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endParaRPr lang="en" sz="1200" dirty="0">
              <a:solidFill>
                <a:srgbClr val="FFFFFF"/>
              </a:solidFill>
              <a:latin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200" dirty="0">
                <a:solidFill>
                  <a:srgbClr val="FFFFFF"/>
                </a:solidFill>
                <a:latin typeface="Hepta Slab Light"/>
                <a:cs typeface="Hepta Slab Light"/>
                <a:sym typeface="Hepta Slab Light"/>
              </a:rPr>
              <a:t>Institution : CR RAO AIMSCS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7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7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7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7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1" grpId="0"/>
      <p:bldP spid="372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D11AE8-20C1-1CF3-2667-0CEB3CB60481}"/>
              </a:ext>
            </a:extLst>
          </p:cNvPr>
          <p:cNvSpPr txBox="1"/>
          <p:nvPr/>
        </p:nvSpPr>
        <p:spPr>
          <a:xfrm>
            <a:off x="552410" y="96644"/>
            <a:ext cx="839830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</a:rPr>
              <a:t>PROBLEM  STATEMENT</a:t>
            </a:r>
            <a:r>
              <a:rPr lang="en-IN" sz="1800" dirty="0">
                <a:solidFill>
                  <a:schemeClr val="tx1"/>
                </a:solidFill>
                <a:latin typeface="+mj-lt"/>
              </a:rPr>
              <a:t>: 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IN" dirty="0">
              <a:solidFill>
                <a:schemeClr val="tx1"/>
              </a:solidFill>
            </a:endParaRPr>
          </a:p>
        </p:txBody>
      </p:sp>
      <p:pic>
        <p:nvPicPr>
          <p:cNvPr id="1028" name="Picture 4" descr="Persons with Deafblindness and Inequality – WFDB">
            <a:extLst>
              <a:ext uri="{FF2B5EF4-FFF2-40B4-BE49-F238E27FC236}">
                <a16:creationId xmlns:a16="http://schemas.microsoft.com/office/drawing/2014/main" id="{BAACEC6D-67E8-76C3-A7B3-2646A2713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67923" y="2471849"/>
            <a:ext cx="3159904" cy="1236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79 Hearing Loss Statistics: How Many Deaf People In The U.S.?">
            <a:extLst>
              <a:ext uri="{FF2B5EF4-FFF2-40B4-BE49-F238E27FC236}">
                <a16:creationId xmlns:a16="http://schemas.microsoft.com/office/drawing/2014/main" id="{48296FB0-9583-171B-EB7C-8AC8D5AAD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6173" y="1984453"/>
            <a:ext cx="2342149" cy="250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0ED589-FE36-7EEF-E090-FA9C630A59EC}"/>
              </a:ext>
            </a:extLst>
          </p:cNvPr>
          <p:cNvSpPr txBox="1"/>
          <p:nvPr/>
        </p:nvSpPr>
        <p:spPr>
          <a:xfrm>
            <a:off x="1059366" y="654852"/>
            <a:ext cx="8084634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8" indent="-285750">
              <a:buClr>
                <a:schemeClr val="accent3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People with hearing impairment might face challenges to interpret sign language. Visual impairment makes the problem even more worse.</a:t>
            </a:r>
          </a:p>
          <a:p>
            <a:pPr marL="285750" lvl="8" indent="-285750">
              <a:buClr>
                <a:schemeClr val="accent3">
                  <a:lumMod val="40000"/>
                  <a:lumOff val="60000"/>
                </a:schemeClr>
              </a:buClr>
              <a:buFont typeface="Wingdings" panose="05000000000000000000" pitchFamily="2" charset="2"/>
              <a:buChar char="v"/>
            </a:pPr>
            <a:r>
              <a:rPr lang="en-IN" dirty="0">
                <a:solidFill>
                  <a:schemeClr val="tx1"/>
                </a:solidFill>
              </a:rPr>
              <a:t>Human interpreter or text based communications may not be adequate enough in terms of  accessibility, efficiency or affordability.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</a:rPr>
              <a:t>	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13C0130B-1A6F-962B-807E-0614DBBAD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6E296DAE-4816-5698-BAE1-981C0A733D56}"/>
              </a:ext>
            </a:extLst>
          </p:cNvPr>
          <p:cNvSpPr txBox="1"/>
          <p:nvPr/>
        </p:nvSpPr>
        <p:spPr>
          <a:xfrm>
            <a:off x="1138757" y="11599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"/>
                <a:cs typeface="Hepta Slab"/>
                <a:sym typeface="Hepta Slab"/>
              </a:rPr>
              <a:t>Proposed Solution</a:t>
            </a: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+mj-lt"/>
              <a:ea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83" name="Google Shape;383;p60">
            <a:extLst>
              <a:ext uri="{FF2B5EF4-FFF2-40B4-BE49-F238E27FC236}">
                <a16:creationId xmlns:a16="http://schemas.microsoft.com/office/drawing/2014/main" id="{8160907C-46DA-038D-9BED-542A4247AD91}"/>
              </a:ext>
            </a:extLst>
          </p:cNvPr>
          <p:cNvSpPr txBox="1"/>
          <p:nvPr/>
        </p:nvSpPr>
        <p:spPr>
          <a:xfrm>
            <a:off x="1353015" y="699813"/>
            <a:ext cx="7404410" cy="9282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To facilitate hard-of-hearing individuals with an ML driven system that translates sign language gestures into text and speech.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Functionalities to be implemented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tx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           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tx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</a:t>
            </a:r>
            <a:r>
              <a:rPr lang="en" sz="1500" dirty="0">
                <a:solidFill>
                  <a:schemeClr val="tx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tx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tx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2050" name="Picture 2" descr="GitHub - Devansh-47/Sign-Language-To-Text-and-Speech-Conversion: This is a  python application which converts american sign language into text and  speech which helps Dumb/Deaf people to start conversation with normal  people who dont understand this language">
            <a:extLst>
              <a:ext uri="{FF2B5EF4-FFF2-40B4-BE49-F238E27FC236}">
                <a16:creationId xmlns:a16="http://schemas.microsoft.com/office/drawing/2014/main" id="{5ED605F3-B4D4-3758-343F-2260E6D727B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9314"/>
          <a:stretch/>
        </p:blipFill>
        <p:spPr bwMode="auto">
          <a:xfrm>
            <a:off x="1751406" y="2301833"/>
            <a:ext cx="2653991" cy="2427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Asl Sign Language Stock Illustrations – 784 Asl Sign Language Stock  Illustrations, Vectors &amp; Clipart - Dreamstime">
            <a:extLst>
              <a:ext uri="{FF2B5EF4-FFF2-40B4-BE49-F238E27FC236}">
                <a16:creationId xmlns:a16="http://schemas.microsoft.com/office/drawing/2014/main" id="{1D5E03BF-2CDC-C4D7-14D5-ADE2CAC289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87" t="3823" r="5255" b="4037"/>
          <a:stretch/>
        </p:blipFill>
        <p:spPr bwMode="auto">
          <a:xfrm>
            <a:off x="5062652" y="2262910"/>
            <a:ext cx="2653991" cy="24661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452BE6A-68D4-EB06-A836-3CEE328F4284}"/>
              </a:ext>
            </a:extLst>
          </p:cNvPr>
          <p:cNvSpPr txBox="1"/>
          <p:nvPr/>
        </p:nvSpPr>
        <p:spPr>
          <a:xfrm>
            <a:off x="2040672" y="1473236"/>
            <a:ext cx="638964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Convert recognized gestures into text and display.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Arial" panose="020B0604020202020204" pitchFamily="34" charset="0"/>
              <a:buChar char="•"/>
            </a:pPr>
            <a:r>
              <a:rPr lang="en-US" sz="1400" dirty="0">
                <a:solidFill>
                  <a:schemeClr val="tx1"/>
                </a:solidFill>
                <a:latin typeface="+mn-lt"/>
                <a:ea typeface="Hepta Slab"/>
                <a:cs typeface="Hepta Slab Light"/>
                <a:sym typeface="Hepta Slab Light"/>
              </a:rPr>
              <a:t>Use text to speech API’s to fetch audio output.</a:t>
            </a:r>
          </a:p>
        </p:txBody>
      </p:sp>
    </p:spTree>
    <p:extLst>
      <p:ext uri="{BB962C8B-B14F-4D97-AF65-F5344CB8AC3E}">
        <p14:creationId xmlns:p14="http://schemas.microsoft.com/office/powerpoint/2010/main" val="120158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0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0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/>
      <p:bldP spid="383" grpId="0"/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EBEC9912-3B7C-079E-82A8-5F36D7CFE9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CBB10BF0-6C76-BAF2-4F5D-7E885BB7A300}"/>
              </a:ext>
            </a:extLst>
          </p:cNvPr>
          <p:cNvSpPr txBox="1"/>
          <p:nvPr/>
        </p:nvSpPr>
        <p:spPr>
          <a:xfrm>
            <a:off x="1056981" y="34559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"/>
                <a:sym typeface="Hepta Slab"/>
              </a:rPr>
              <a:t>Opportunities &amp; Innovation</a:t>
            </a:r>
            <a:endParaRPr lang="en-US" sz="1800" dirty="0">
              <a:solidFill>
                <a:schemeClr val="accent3">
                  <a:lumMod val="40000"/>
                  <a:lumOff val="60000"/>
                </a:schemeClr>
              </a:solidFill>
              <a:latin typeface="+mj-lt"/>
              <a:ea typeface="Hepta Slab Light"/>
              <a:cs typeface="Hepta Slab Light"/>
              <a:sym typeface="Hepta Slab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83" name="Google Shape;383;p60">
            <a:extLst>
              <a:ext uri="{FF2B5EF4-FFF2-40B4-BE49-F238E27FC236}">
                <a16:creationId xmlns:a16="http://schemas.microsoft.com/office/drawing/2014/main" id="{722B3AD0-DFAB-3071-DD19-EC1A9A9FB4B0}"/>
              </a:ext>
            </a:extLst>
          </p:cNvPr>
          <p:cNvSpPr txBox="1"/>
          <p:nvPr/>
        </p:nvSpPr>
        <p:spPr>
          <a:xfrm>
            <a:off x="1853849" y="802888"/>
            <a:ext cx="6130423" cy="3920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Benefits to Society: Supports both visually and hearing impaired.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Exploit computer vision and ML techniques to make the job easy.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Supports multiple devices and platforms.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Train the model extensively for improved accuracy.	</a:t>
            </a:r>
            <a:r>
              <a:rPr lang="en-US" sz="1600" dirty="0">
                <a:solidFill>
                  <a:schemeClr val="dk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            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Hepta Slab Light"/>
                <a:ea typeface="Hepta Slab"/>
                <a:cs typeface="Hepta Slab Light"/>
                <a:sym typeface="Hepta Slab Light"/>
              </a:rPr>
              <a:t> </a:t>
            </a: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FACDDC5-0C1C-2145-481B-161098D882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9218" y="2226159"/>
            <a:ext cx="3862782" cy="2571750"/>
          </a:xfrm>
          <a:prstGeom prst="rect">
            <a:avLst/>
          </a:prstGeom>
        </p:spPr>
      </p:pic>
      <p:pic>
        <p:nvPicPr>
          <p:cNvPr id="3074" name="Picture 2" descr="This hand-tracking algorithm could lead to sign language recognition |  TechCrunch">
            <a:extLst>
              <a:ext uri="{FF2B5EF4-FFF2-40B4-BE49-F238E27FC236}">
                <a16:creationId xmlns:a16="http://schemas.microsoft.com/office/drawing/2014/main" id="{D23EC63D-B700-4BE1-E527-FFC2ACE0F1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1210" y="2226159"/>
            <a:ext cx="4103649" cy="2571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6027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8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07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0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/>
      <p:bldP spid="38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89BE0EC8-DCD8-09AC-DE1F-E5E5074FA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5DE873FC-DAAE-0285-8765-11FF62C99037}"/>
              </a:ext>
            </a:extLst>
          </p:cNvPr>
          <p:cNvSpPr txBox="1"/>
          <p:nvPr/>
        </p:nvSpPr>
        <p:spPr>
          <a:xfrm>
            <a:off x="468714" y="17711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Features of the solution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F69FA18-E93A-484C-16D1-6F2BE956F427}"/>
              </a:ext>
            </a:extLst>
          </p:cNvPr>
          <p:cNvSpPr txBox="1"/>
          <p:nvPr/>
        </p:nvSpPr>
        <p:spPr>
          <a:xfrm>
            <a:off x="591019" y="946285"/>
            <a:ext cx="7170229" cy="27699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Key Functionalities: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1. SLI  has a provision to prompt for language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    User can choose language of their choice for SL to text conversion.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2. SLI preserves co-ordinates of acquired images and develops a model to 	distinguish among various gestures.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	3. Trains the Model in a rigorous way to attain utmost accuracy 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   	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Usability &amp; Benefits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1. Cost effective and User friendly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	2. Can act as a bridge between the impaired and the rest of the world.	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	3. Once the application is live, it can be extended to multiple platforms.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endParaRPr lang="en-US" sz="1600" dirty="0">
              <a:solidFill>
                <a:schemeClr val="dk1"/>
              </a:solidFill>
              <a:latin typeface="Hepta Slab Light"/>
              <a:ea typeface="Hepta Slab"/>
              <a:cs typeface="Hepta Slab Light"/>
              <a:sym typeface="Hepta Slab Light"/>
            </a:endParaRPr>
          </a:p>
        </p:txBody>
      </p:sp>
    </p:spTree>
    <p:extLst>
      <p:ext uri="{BB962C8B-B14F-4D97-AF65-F5344CB8AC3E}">
        <p14:creationId xmlns:p14="http://schemas.microsoft.com/office/powerpoint/2010/main" val="28163035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9422F-89EE-3556-961C-642BF809E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cs typeface="Hepta Slab Light"/>
                <a:sym typeface="Hepta Slab Light"/>
              </a:rPr>
              <a:t>Current Status of the Work</a:t>
            </a:r>
            <a:br>
              <a:rPr lang="en-US" sz="36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BE4000-CF07-9651-4686-6F0234BEBF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What’s been done so far?: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Proof of concept is implemented to recognize few gestures.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Front-end is developed with minimal requirements.</a:t>
            </a:r>
          </a:p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D30B7F-8AB6-7EF2-2E73-16C41B97F6E5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832400" y="260195"/>
            <a:ext cx="3999900" cy="4308680"/>
          </a:xfrm>
        </p:spPr>
        <p:txBody>
          <a:bodyPr/>
          <a:lstStyle/>
          <a:p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Glimpses of the work so far: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2E1942D-80B9-65F5-A745-1A04E89AB4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693" y="791063"/>
            <a:ext cx="2076372" cy="158101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93595B7-F14F-B82C-52EB-C07D701971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7485" y="757798"/>
            <a:ext cx="1590532" cy="160936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691D0A-8B17-8306-EF31-AB30EF1D9E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545" y="2716982"/>
            <a:ext cx="1484509" cy="191587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F2FD2EC-D693-F53D-3E84-3C63D2269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24372" y="2726832"/>
            <a:ext cx="1457318" cy="188371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C5C7784-F21A-2D78-0427-6AB0A93F777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67289" y="2731853"/>
            <a:ext cx="1466405" cy="1883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9892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07601572-6E5E-C3F1-54BE-9B4C1199D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F03F57D4-8634-98D1-80CA-E5DBC228CBD2}"/>
              </a:ext>
            </a:extLst>
          </p:cNvPr>
          <p:cNvSpPr txBox="1"/>
          <p:nvPr/>
        </p:nvSpPr>
        <p:spPr>
          <a:xfrm>
            <a:off x="468714" y="17711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Flow diagram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F876B813-FD0C-EAB5-C50E-18B31D4F9079}"/>
              </a:ext>
            </a:extLst>
          </p:cNvPr>
          <p:cNvSpPr/>
          <p:nvPr/>
        </p:nvSpPr>
        <p:spPr>
          <a:xfrm>
            <a:off x="3293320" y="989628"/>
            <a:ext cx="1605776" cy="1233182"/>
          </a:xfrm>
          <a:prstGeom prst="ellipse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Flask application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D627EC2-7A92-2B67-2D08-DC31954D92EF}"/>
              </a:ext>
            </a:extLst>
          </p:cNvPr>
          <p:cNvSpPr/>
          <p:nvPr/>
        </p:nvSpPr>
        <p:spPr>
          <a:xfrm>
            <a:off x="6713029" y="2847273"/>
            <a:ext cx="2297151" cy="1063083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Frontend 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Acquire Language option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Click submit</a:t>
            </a:r>
          </a:p>
          <a:p>
            <a:pPr algn="ctr"/>
            <a:endParaRPr lang="en-IN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cxnSp>
        <p:nvCxnSpPr>
          <p:cNvPr id="7" name="Connector: Elbow 6">
            <a:extLst>
              <a:ext uri="{FF2B5EF4-FFF2-40B4-BE49-F238E27FC236}">
                <a16:creationId xmlns:a16="http://schemas.microsoft.com/office/drawing/2014/main" id="{4AD7F1F3-159D-9810-9AF6-F2C44C9F38AA}"/>
              </a:ext>
            </a:extLst>
          </p:cNvPr>
          <p:cNvCxnSpPr>
            <a:cxnSpLocks/>
            <a:stCxn id="2" idx="0"/>
            <a:endCxn id="3" idx="0"/>
          </p:cNvCxnSpPr>
          <p:nvPr/>
        </p:nvCxnSpPr>
        <p:spPr>
          <a:xfrm rot="16200000" flipH="1">
            <a:off x="5050083" y="35752"/>
            <a:ext cx="1857645" cy="3765397"/>
          </a:xfrm>
          <a:prstGeom prst="bentConnector3">
            <a:avLst>
              <a:gd name="adj1" fmla="val -12306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1BF114C5-6DF6-79FD-0D76-EAC35B05A855}"/>
              </a:ext>
            </a:extLst>
          </p:cNvPr>
          <p:cNvCxnSpPr>
            <a:cxnSpLocks/>
            <a:stCxn id="3" idx="1"/>
            <a:endCxn id="2" idx="6"/>
          </p:cNvCxnSpPr>
          <p:nvPr/>
        </p:nvCxnSpPr>
        <p:spPr>
          <a:xfrm rot="10800000">
            <a:off x="4899097" y="1606219"/>
            <a:ext cx="1813933" cy="1772596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3F530159-A286-652F-F230-4F5600384978}"/>
              </a:ext>
            </a:extLst>
          </p:cNvPr>
          <p:cNvSpPr/>
          <p:nvPr/>
        </p:nvSpPr>
        <p:spPr>
          <a:xfrm>
            <a:off x="0" y="2492516"/>
            <a:ext cx="5032918" cy="2650984"/>
          </a:xfrm>
          <a:prstGeom prst="rect">
            <a:avLst/>
          </a:prstGeom>
          <a:solidFill>
            <a:schemeClr val="tx1">
              <a:lumMod val="6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SignLanguage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interpreter(back end)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Sets up capture device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Initiates </a:t>
            </a:r>
            <a:r>
              <a:rPr lang="en-IN" dirty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keypoint</a:t>
            </a:r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classifier – Module responsible for hand gesture points acquisition and ML model creation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3. Initiates  points history classifier – Module responsible for model training</a:t>
            </a:r>
          </a:p>
          <a:p>
            <a:pPr algn="ctr"/>
            <a:r>
              <a:rPr lang="en-IN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4. Runs the application in a relentless mode to identify the gestures on the fly.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043FE9FB-7001-1153-E28F-40B9BC0C7433}"/>
              </a:ext>
            </a:extLst>
          </p:cNvPr>
          <p:cNvCxnSpPr>
            <a:cxnSpLocks/>
            <a:stCxn id="2" idx="4"/>
            <a:endCxn id="11" idx="0"/>
          </p:cNvCxnSpPr>
          <p:nvPr/>
        </p:nvCxnSpPr>
        <p:spPr>
          <a:xfrm rot="5400000">
            <a:off x="3171481" y="1567789"/>
            <a:ext cx="269706" cy="1579749"/>
          </a:xfrm>
          <a:prstGeom prst="bentConnector3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4856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BC28BE10-F7E2-740F-760B-246044582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EA320BD6-BC05-A08E-676B-D03720059016}"/>
              </a:ext>
            </a:extLst>
          </p:cNvPr>
          <p:cNvSpPr txBox="1"/>
          <p:nvPr/>
        </p:nvSpPr>
        <p:spPr>
          <a:xfrm>
            <a:off x="468714" y="17711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1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Tech stack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B8F9F-6EAC-F593-A08E-E8CCEE8B125E}"/>
              </a:ext>
            </a:extLst>
          </p:cNvPr>
          <p:cNvSpPr txBox="1"/>
          <p:nvPr/>
        </p:nvSpPr>
        <p:spPr>
          <a:xfrm>
            <a:off x="2286000" y="664000"/>
            <a:ext cx="4572000" cy="3508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Programming languages: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Front end: HTML, CSS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Back end : Python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</a:p>
          <a:p>
            <a:pPr marL="133350" lvl="8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   	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Framework : Flask </a:t>
            </a: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endParaRPr lang="en-US" sz="1600" dirty="0">
              <a:solidFill>
                <a:schemeClr val="dk1"/>
              </a:solidFill>
              <a:latin typeface="+mn-lt"/>
              <a:ea typeface="Hepta Slab"/>
              <a:cs typeface="Hepta Slab Light"/>
              <a:sym typeface="Hepta Slab Light"/>
            </a:endParaRP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600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Packages : 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6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 	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TensorFlow – ML model creation and training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             OpenCV – Capture images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  <a:r>
              <a:rPr lang="en-US" sz="1200" dirty="0" err="1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Mediapipe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– process video/image files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             </a:t>
            </a:r>
            <a:r>
              <a:rPr lang="en-US" sz="1200" dirty="0" err="1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Numpy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- Large data processing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endParaRPr lang="en-US" sz="1200" dirty="0">
              <a:solidFill>
                <a:schemeClr val="dk1"/>
              </a:solidFill>
              <a:latin typeface="+mn-lt"/>
              <a:ea typeface="Hepta Slab"/>
              <a:cs typeface="Hepta Slab Light"/>
              <a:sym typeface="Hepta Slab Light"/>
            </a:endParaRPr>
          </a:p>
          <a:p>
            <a:pPr marL="304800" lvl="2" indent="-1714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Tools:      </a:t>
            </a:r>
            <a:r>
              <a:rPr lang="en-US" dirty="0" err="1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Pycharm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, </a:t>
            </a:r>
            <a:r>
              <a:rPr lang="en-US" dirty="0" err="1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Jupyter</a:t>
            </a:r>
            <a:r>
              <a:rPr lang="en-US" dirty="0">
                <a:solidFill>
                  <a:schemeClr val="dk1"/>
                </a:solidFill>
                <a:latin typeface="+mn-lt"/>
                <a:cs typeface="Hepta Slab Light"/>
                <a:sym typeface="Hepta Slab Light"/>
              </a:rPr>
              <a:t> notebook(Anaconda)</a:t>
            </a: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</a:t>
            </a:r>
            <a:r>
              <a:rPr lang="en-US" sz="14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	</a:t>
            </a:r>
          </a:p>
          <a:p>
            <a:pPr marL="133350" lvl="2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r>
              <a:rPr lang="en-US" sz="12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     </a:t>
            </a:r>
            <a:endParaRPr lang="en-US" sz="1200" dirty="0">
              <a:solidFill>
                <a:schemeClr val="dk1"/>
              </a:solidFill>
              <a:latin typeface="+mn-lt"/>
              <a:cs typeface="Hepta Slab Light"/>
              <a:sym typeface="Hepta Slab Light"/>
            </a:endParaRPr>
          </a:p>
        </p:txBody>
      </p:sp>
    </p:spTree>
    <p:extLst>
      <p:ext uri="{BB962C8B-B14F-4D97-AF65-F5344CB8AC3E}">
        <p14:creationId xmlns:p14="http://schemas.microsoft.com/office/powerpoint/2010/main" val="1592964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1B14FB49-89B2-ADCA-03B9-811842D83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60">
            <a:extLst>
              <a:ext uri="{FF2B5EF4-FFF2-40B4-BE49-F238E27FC236}">
                <a16:creationId xmlns:a16="http://schemas.microsoft.com/office/drawing/2014/main" id="{A8A86C10-83A0-B78A-C637-049C460672CC}"/>
              </a:ext>
            </a:extLst>
          </p:cNvPr>
          <p:cNvSpPr txBox="1"/>
          <p:nvPr/>
        </p:nvSpPr>
        <p:spPr>
          <a:xfrm>
            <a:off x="1056981" y="345591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28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Hepta Slab Light"/>
                <a:cs typeface="Hepta Slab Light"/>
                <a:sym typeface="Hepta Slab Light"/>
              </a:rPr>
              <a:t>Development Journey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 dirty="0">
                <a:solidFill>
                  <a:srgbClr val="7F6000"/>
                </a:solidFill>
                <a:latin typeface="Hepta Slab"/>
                <a:ea typeface="Hepta Slab"/>
                <a:cs typeface="Hepta Slab"/>
                <a:sym typeface="Hepta Slab"/>
              </a:rPr>
              <a:t> </a:t>
            </a:r>
            <a:endParaRPr sz="2500" dirty="0">
              <a:solidFill>
                <a:srgbClr val="7F6000"/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C452C60-BD10-FF77-CFCB-5575FA3210EA}"/>
              </a:ext>
            </a:extLst>
          </p:cNvPr>
          <p:cNvSpPr txBox="1"/>
          <p:nvPr/>
        </p:nvSpPr>
        <p:spPr>
          <a:xfrm>
            <a:off x="966439" y="959005"/>
            <a:ext cx="5891561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8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Milestones:</a:t>
            </a:r>
          </a:p>
          <a:p>
            <a:pPr marL="133350" lvl="1">
              <a:buClr>
                <a:schemeClr val="accent3">
                  <a:lumMod val="40000"/>
                  <a:lumOff val="60000"/>
                </a:schemeClr>
              </a:buClr>
              <a:buSzPts val="1500"/>
            </a:pPr>
            <a:endParaRPr lang="en-US" dirty="0">
              <a:solidFill>
                <a:schemeClr val="dk1"/>
              </a:solidFill>
              <a:latin typeface="+mn-lt"/>
              <a:ea typeface="Hepta Slab"/>
              <a:cs typeface="Hepta Slab Light"/>
              <a:sym typeface="Hepta Slab Light"/>
            </a:endParaRP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Design – Tremendous progress on identifying the requisite technologies and algorithms to be leveraged.</a:t>
            </a: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Considerable progress on front-end </a:t>
            </a: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Flask application is completely functional.</a:t>
            </a:r>
          </a:p>
          <a:p>
            <a:pPr marL="419100" lvl="1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Backend application - Sign language Interpreter module works for few of the gestures.</a:t>
            </a:r>
          </a:p>
        </p:txBody>
      </p:sp>
      <p:sp>
        <p:nvSpPr>
          <p:cNvPr id="4" name="Google Shape;383;p60">
            <a:extLst>
              <a:ext uri="{FF2B5EF4-FFF2-40B4-BE49-F238E27FC236}">
                <a16:creationId xmlns:a16="http://schemas.microsoft.com/office/drawing/2014/main" id="{9C31D406-628F-DDBF-C6C0-D0F9655B0822}"/>
              </a:ext>
            </a:extLst>
          </p:cNvPr>
          <p:cNvSpPr txBox="1"/>
          <p:nvPr/>
        </p:nvSpPr>
        <p:spPr>
          <a:xfrm>
            <a:off x="1070212" y="3493279"/>
            <a:ext cx="7151953" cy="11753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Improvise the front-end part. Leverage advanced frontend frameworks.</a:t>
            </a:r>
          </a:p>
          <a:p>
            <a:pPr marL="419100" lvl="0" indent="-285750" algn="l" rtl="0">
              <a:spcBef>
                <a:spcPts val="0"/>
              </a:spcBef>
              <a:spcAft>
                <a:spcPts val="0"/>
              </a:spcAft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Expand the functionality to cover regional audio output as well.</a:t>
            </a:r>
          </a:p>
          <a:p>
            <a:pPr marL="419100" indent="-285750">
              <a:buClr>
                <a:schemeClr val="accent3">
                  <a:lumMod val="40000"/>
                  <a:lumOff val="60000"/>
                </a:schemeClr>
              </a:buClr>
              <a:buSzPts val="1500"/>
              <a:buFont typeface="Wingdings" panose="05000000000000000000" pitchFamily="2" charset="2"/>
              <a:buChar char="v"/>
            </a:pPr>
            <a:r>
              <a:rPr lang="en-US" sz="1400" dirty="0">
                <a:solidFill>
                  <a:schemeClr val="dk1"/>
                </a:solidFill>
                <a:latin typeface="+mn-lt"/>
                <a:ea typeface="Hepta Slab"/>
                <a:cs typeface="Hepta Slab Light"/>
                <a:sym typeface="Hepta Slab Light"/>
              </a:rPr>
              <a:t>Need to do some research on API’s that can convert text to regional languages.</a:t>
            </a:r>
          </a:p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" name="Google Shape;382;p60">
            <a:extLst>
              <a:ext uri="{FF2B5EF4-FFF2-40B4-BE49-F238E27FC236}">
                <a16:creationId xmlns:a16="http://schemas.microsoft.com/office/drawing/2014/main" id="{DBE53832-FD6F-8320-8716-B8A12742DD1E}"/>
              </a:ext>
            </a:extLst>
          </p:cNvPr>
          <p:cNvSpPr txBox="1"/>
          <p:nvPr/>
        </p:nvSpPr>
        <p:spPr>
          <a:xfrm>
            <a:off x="982636" y="2962398"/>
            <a:ext cx="6711701" cy="8125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sz="2500" dirty="0">
                <a:solidFill>
                  <a:schemeClr val="accent3">
                    <a:lumMod val="40000"/>
                    <a:lumOff val="60000"/>
                  </a:schemeClr>
                </a:solidFill>
                <a:latin typeface="Hepta Slab"/>
                <a:ea typeface="Hepta Slab"/>
                <a:cs typeface="Hepta Slab"/>
                <a:sym typeface="Hepta Slab"/>
              </a:rPr>
              <a:t>Next Steps</a:t>
            </a:r>
            <a:endParaRPr sz="2500" dirty="0">
              <a:solidFill>
                <a:schemeClr val="accent3">
                  <a:lumMod val="40000"/>
                  <a:lumOff val="60000"/>
                </a:schemeClr>
              </a:solidFill>
              <a:latin typeface="Hepta Slab"/>
              <a:ea typeface="Hepta Slab"/>
              <a:cs typeface="Hepta Slab"/>
              <a:sym typeface="Hepta Slab"/>
            </a:endParaRPr>
          </a:p>
        </p:txBody>
      </p:sp>
    </p:spTree>
    <p:extLst>
      <p:ext uri="{BB962C8B-B14F-4D97-AF65-F5344CB8AC3E}">
        <p14:creationId xmlns:p14="http://schemas.microsoft.com/office/powerpoint/2010/main" val="1497771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8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2" grpId="0"/>
      <p:bldP spid="4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0">
          <a:extLst>
            <a:ext uri="{FF2B5EF4-FFF2-40B4-BE49-F238E27FC236}">
              <a16:creationId xmlns:a16="http://schemas.microsoft.com/office/drawing/2014/main" id="{B13F46FD-67BE-4354-B771-8BA0BF4BE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0">
            <a:extLst>
              <a:ext uri="{FF2B5EF4-FFF2-40B4-BE49-F238E27FC236}">
                <a16:creationId xmlns:a16="http://schemas.microsoft.com/office/drawing/2014/main" id="{A42DF4F3-EB2F-FCEB-B4D2-3F4C00967668}"/>
              </a:ext>
            </a:extLst>
          </p:cNvPr>
          <p:cNvSpPr txBox="1"/>
          <p:nvPr/>
        </p:nvSpPr>
        <p:spPr>
          <a:xfrm>
            <a:off x="1694681" y="928509"/>
            <a:ext cx="5436300" cy="386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3350" lvl="0" algn="l" rtl="0">
              <a:spcBef>
                <a:spcPts val="0"/>
              </a:spcBef>
              <a:spcAft>
                <a:spcPts val="0"/>
              </a:spcAft>
              <a:buClr>
                <a:srgbClr val="7F6000"/>
              </a:buClr>
              <a:buSzPts val="1500"/>
            </a:pPr>
            <a:r>
              <a:rPr lang="en" sz="1500" dirty="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rPr>
              <a:t>		</a:t>
            </a: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marL="0" lvl="0" indent="45720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pic>
        <p:nvPicPr>
          <p:cNvPr id="7170" name="Picture 2" descr="Sign Language | What is Sign Language? | Fable">
            <a:extLst>
              <a:ext uri="{FF2B5EF4-FFF2-40B4-BE49-F238E27FC236}">
                <a16:creationId xmlns:a16="http://schemas.microsoft.com/office/drawing/2014/main" id="{D496B0A4-4E03-610F-9626-C4BB2658CB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solidFill>
            <a:schemeClr val="tx1"/>
          </a:solidFill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8F9B68E-5836-21E8-7422-A51EAB0C43BE}"/>
              </a:ext>
            </a:extLst>
          </p:cNvPr>
          <p:cNvSpPr/>
          <p:nvPr/>
        </p:nvSpPr>
        <p:spPr>
          <a:xfrm>
            <a:off x="1805240" y="1761892"/>
            <a:ext cx="5710682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IN" sz="7200" b="1" dirty="0">
                <a:ln w="12700">
                  <a:solidFill>
                    <a:srgbClr val="FFFF00"/>
                  </a:solidFill>
                  <a:prstDash val="solid"/>
                </a:ln>
                <a:solidFill>
                  <a:srgbClr val="FFFF00"/>
                </a:solid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61609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17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5551</TotalTime>
  <Words>609</Words>
  <Application>Microsoft Office PowerPoint</Application>
  <PresentationFormat>On-screen Show (16:9)</PresentationFormat>
  <Paragraphs>91</Paragraphs>
  <Slides>10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Barlow Light</vt:lpstr>
      <vt:lpstr>Hepta Slab</vt:lpstr>
      <vt:lpstr>Hepta Slab Light</vt:lpstr>
      <vt:lpstr>Barlow Medium</vt:lpstr>
      <vt:lpstr>Barlow</vt:lpstr>
      <vt:lpstr>Barlow ExtraLight</vt:lpstr>
      <vt:lpstr>Wingdings</vt:lpstr>
      <vt:lpstr>Hepta Slab Medium</vt:lpstr>
      <vt:lpstr>Arial</vt:lpstr>
      <vt:lpstr>Simple Light</vt:lpstr>
      <vt:lpstr>Strategy Plan</vt:lpstr>
      <vt:lpstr>Sign Language Interpreter (leveraging computer vision) </vt:lpstr>
      <vt:lpstr>PowerPoint Presentation</vt:lpstr>
      <vt:lpstr>PowerPoint Presentation</vt:lpstr>
      <vt:lpstr>PowerPoint Presentation</vt:lpstr>
      <vt:lpstr>PowerPoint Presentation</vt:lpstr>
      <vt:lpstr>Current Status of the Work 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raviraj n</cp:lastModifiedBy>
  <cp:revision>56</cp:revision>
  <dcterms:modified xsi:type="dcterms:W3CDTF">2025-04-27T10:26:58Z</dcterms:modified>
</cp:coreProperties>
</file>